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946cff414e4efc" /><Relationship Type="http://schemas.openxmlformats.org/officeDocument/2006/relationships/extended-properties" Target="/docProps/app.xml" Id="R989755fe585d4196" /><Relationship Type="http://schemas.openxmlformats.org/officeDocument/2006/relationships/officeDocument" Target="/ppt/presentation.xml" Id="R9e8aca5e36ca44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6f28c823584cf4"/>
  </p:sldMasterIdLst>
  <p:notesMasterIdLst>
    <p:notesMasterId xmlns:r="http://schemas.openxmlformats.org/officeDocument/2006/relationships" r:id="R4216c9c82f024d2a"/>
  </p:notesMasterIdLst>
  <p:sldIdLst>
    <p:sldId xmlns:r="http://schemas.openxmlformats.org/officeDocument/2006/relationships" id="256" r:id="Rc386b10aabe54498"/>
    <p:sldId xmlns:r="http://schemas.openxmlformats.org/officeDocument/2006/relationships" id="257" r:id="R3361578b272a4779"/>
    <p:sldId xmlns:r="http://schemas.openxmlformats.org/officeDocument/2006/relationships" id="258" r:id="R6a692e70227a4390"/>
    <p:sldId xmlns:r="http://schemas.openxmlformats.org/officeDocument/2006/relationships" id="259" r:id="R92bd7b464cfa446f"/>
    <p:sldId xmlns:r="http://schemas.openxmlformats.org/officeDocument/2006/relationships" id="260" r:id="Rf2406084470f4c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cd0185d9424fdc" /><Relationship Type="http://schemas.openxmlformats.org/officeDocument/2006/relationships/slideMaster" Target="/ppt/slideMasters/slideMaster1.xml" Id="R2a6f28c823584cf4" /><Relationship Type="http://schemas.openxmlformats.org/officeDocument/2006/relationships/notesMaster" Target="/ppt/notesMasters/notesMaster1.xml" Id="R4216c9c82f024d2a" /><Relationship Type="http://schemas.openxmlformats.org/officeDocument/2006/relationships/presProps" Target="/ppt/presProps.xml" Id="Rbb13536d5ca74878" /><Relationship Type="http://schemas.openxmlformats.org/officeDocument/2006/relationships/tableStyles" Target="/ppt/tableStyles.xml" Id="Raa3211617f0f4df5" /><Relationship Type="http://schemas.openxmlformats.org/officeDocument/2006/relationships/slide" Target="/ppt/slides/slide1.xml" Id="Rc386b10aabe54498" /><Relationship Type="http://schemas.openxmlformats.org/officeDocument/2006/relationships/slide" Target="/ppt/slides/slide2.xml" Id="R3361578b272a4779" /><Relationship Type="http://schemas.openxmlformats.org/officeDocument/2006/relationships/slide" Target="/ppt/slides/slide3.xml" Id="R6a692e70227a4390" /><Relationship Type="http://schemas.openxmlformats.org/officeDocument/2006/relationships/slide" Target="/ppt/slides/slide4.xml" Id="R92bd7b464cfa446f" /><Relationship Type="http://schemas.openxmlformats.org/officeDocument/2006/relationships/slide" Target="/ppt/slides/slide5.xml" Id="Rf2406084470f4c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f65f34228241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BF Technical Review">
      <a:dk1>
        <a:srgbClr val="000000"/>
      </a:dk1>
      <a:lt1>
        <a:srgbClr val="FFFFFF"/>
      </a:lt1>
      <a:dk2>
        <a:srgbClr val="1F2937"/>
      </a:dk2>
      <a:lt2>
        <a:srgbClr val="EDEDED"/>
      </a:lt2>
      <a:accent1>
        <a:srgbClr val="2F6BFF"/>
      </a:accent1>
      <a:accent2>
        <a:srgbClr val="F59E0B"/>
      </a:accent2>
      <a:accent3>
        <a:srgbClr val="0F766E"/>
      </a:accent3>
      <a:accent4>
        <a:srgbClr val="DC2626"/>
      </a:accent4>
      <a:accent5>
        <a:srgbClr val="7C3AED"/>
      </a:accent5>
      <a:accent6>
        <a:srgbClr val="16A34A"/>
      </a:accent6>
      <a:hlink>
        <a:srgbClr val="2F6B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HBF Technic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6a75987ee94c47" /><Relationship Type="http://schemas.openxmlformats.org/officeDocument/2006/relationships/notesMaster" Target="/ppt/notesMasters/notesMaster1.xml" Id="R49d82a11b30441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8b0083239b4036" /><Relationship Type="http://schemas.openxmlformats.org/officeDocument/2006/relationships/notesMaster" Target="/ppt/notesMasters/notesMaster1.xml" Id="R511128c0a34c42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4a6d2f8d654522" /><Relationship Type="http://schemas.openxmlformats.org/officeDocument/2006/relationships/notesMaster" Target="/ppt/notesMasters/notesMaster1.xml" Id="R770ca120d4cb4e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0514c1f29c43e7" /><Relationship Type="http://schemas.openxmlformats.org/officeDocument/2006/relationships/notesMaster" Target="/ppt/notesMasters/notesMaster1.xml" Id="Rcfb1c63b2a1e44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994aa28bde41e6" /><Relationship Type="http://schemas.openxmlformats.org/officeDocument/2006/relationships/notesMaster" Target="/ppt/notesMasters/notesMaster1.xml" Id="Rf1e83810f18e44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老师好，这次汇报三部分：我从HBF MFU任务书中学到了什么，发现了哪些公式错误和建模缺口，以及如何把明确内容实现为可运行、可验证的基础仿真器。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我从任务书中主要学到三点。第一，HBF和DDR不是传统前后级：权重与bulk KV由NPU直接从HBF读取，DDR周转new KV和tail KV，SRAM承担片上计算。第二，单层依次经过QKV投影、allgather、Flash Attention、O投影、allreduce、FFN、scatter-reduce和KV写回，阶段结束时间取决于计算、访存和通信中最慢的一项。第三，Attention采用TP，MoE可用top-k并行减少all-to-all。P表示传输字节数，C表示计算操作数。任务书的定性判断是prefill更偏计算受限、decode更偏带宽受限，所以decode还要关注HBF利用率和端到端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问题分为两类。第一类是确定错误。scatter-reduce写成C(ffn_out)除以PCIe带宽，但C是操作数、带宽是字节每秒，两者相除得不到时间；这里传输FFN输出，应使用P(ffn_out)。文字又要求new KV先写DDR，再与tail KV一起读取，而公式既没有写入完成依赖，也没有tail数据量。KV写HBF还漏了访问延迟，早期版本也有allreduce变量拼写不一致。第二类是原文缺失：AFD没有完整时序，tail KV长度未定义，250微秒没有说明如何进入总时长，top-k、vector、softmax、tiling和通信重叠也未建模。这些内容不能靠拟合或隐藏假设补上，因此原文结果不能直接当作精确仿真结果。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我把项目整理为任务书、输入模板、仿真器源码和汇报材料。硬件不再写死，而由用户在Excel中填写芯片数、算力与利用率，以及HBF、DDR和PCIe指标。模型固定为M12-24B，并按W8A8和KV int8展开QKV、Attention、O投影和FFN的数据量P与操作量C。时序沿用任务书的max关系，只做已确认的最小修正，再把单层结果串联为48层。程序输出MFU、HBF读写利用率、E2E延迟和逐层时序。目前公式单元测试均已通过，prefill和decode端到端流程也已跑通；这证明程序链路可运行，但不代表已经校准到真实硬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以，目前完成的是单场景、非AFD的基础端到端计算链路，包括输入检查、公式执行、48层衔接和结果文件输出。当前成果还不是经过真实硬件校准的性能预测器，而是一个公式可追踪、输入可验证、边界明确的基础仿真器。对于任务书没有给出的部分，我选择明确标出，而不是通过拟合或隐藏假设补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517cbb1ac45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cf31dc1743452a" /><Relationship Type="http://schemas.openxmlformats.org/officeDocument/2006/relationships/slideLayout" Target="/ppt/slideLayouts/slideLayout1.xml" Id="R4abfb5d0fda642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bfb5d0fda642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BF Technical Review">
      <a:dk1>
        <a:srgbClr val="000000"/>
      </a:dk1>
      <a:lt1>
        <a:srgbClr val="FFFFFF"/>
      </a:lt1>
      <a:dk2>
        <a:srgbClr val="1F2937"/>
      </a:dk2>
      <a:lt2>
        <a:srgbClr val="EDEDED"/>
      </a:lt2>
      <a:accent1>
        <a:srgbClr val="2F6BFF"/>
      </a:accent1>
      <a:accent2>
        <a:srgbClr val="F59E0B"/>
      </a:accent2>
      <a:accent3>
        <a:srgbClr val="0F766E"/>
      </a:accent3>
      <a:accent4>
        <a:srgbClr val="DC2626"/>
      </a:accent4>
      <a:accent5>
        <a:srgbClr val="7C3AED"/>
      </a:accent5>
      <a:accent6>
        <a:srgbClr val="16A34A"/>
      </a:accent6>
      <a:hlink>
        <a:srgbClr val="2F6B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HBF Technic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2c22431244c86" /><Relationship Type="http://schemas.openxmlformats.org/officeDocument/2006/relationships/notesSlide" Target="/ppt/notesSlides/notesSlide1.xml" Id="R002c7b9e827640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112ad0196420f" /><Relationship Type="http://schemas.openxmlformats.org/officeDocument/2006/relationships/image" Target="/ppt/media/image.png" Id="R0ba0bdaac6554aa4" /><Relationship Type="http://schemas.openxmlformats.org/officeDocument/2006/relationships/notesSlide" Target="/ppt/notesSlides/notesSlide2.xml" Id="R95fdfebaa2b744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e489b192b49b1" /><Relationship Type="http://schemas.openxmlformats.org/officeDocument/2006/relationships/image" Target="/ppt/media/image2.png" Id="R2a7de2aa52934092" /><Relationship Type="http://schemas.openxmlformats.org/officeDocument/2006/relationships/notesSlide" Target="/ppt/notesSlides/notesSlide3.xml" Id="R11eea6479bb940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20c34a10c45d7" /><Relationship Type="http://schemas.openxmlformats.org/officeDocument/2006/relationships/notesSlide" Target="/ppt/notesSlides/notesSlide4.xml" Id="R1b88c808ba6c40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ff4d949364849" /><Relationship Type="http://schemas.openxmlformats.org/officeDocument/2006/relationships/notesSlide" Target="/ppt/notesSlides/notesSlide5.xml" Id="Rccac36d1294f45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21C1156-9DCA-4B4F-BB64-47A12DE3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HBF / MFU TECHNICAL REVIEW</a:t>
            </a:r>
          </a:p>
        </p:txBody>
      </p:sp>
      <p:sp>
        <p:nvSpPr>
          <p:cNvPr id="2" name="cover-meta">
            <a:extLst xmlns:a="http://schemas.openxmlformats.org/drawingml/2006/main">
              <a:ext uri="{FF2B5EF4-FFF2-40B4-BE49-F238E27FC236}">
                <a16:creationId xmlns:a16="http://schemas.microsoft.com/office/drawing/2014/main" id="{4C15281D-AFA7-4B7C-AD18-ADAD239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贾镕旭  /  2026.07.15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EA2CBA0-D5EB-45F9-B611-C15E01EF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7419B5C-D7D4-490A-A917-1CD82201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885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HBF MFU任务书理解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与仿真进展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335C655-BCEA-4DD0-9B07-9E218DC5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计算流 · 公式审查 · 基础实现</a:t>
            </a:r>
          </a:p>
        </p:txBody>
      </p:sp>
      <p:sp>
        <p:nvSpPr>
          <p:cNvPr id="6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62EBC965-6F6A-453F-B43A-52FC956C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19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理解  →  审查  →  实现</a:t>
            </a:r>
          </a:p>
        </p:txBody>
      </p:sp>
      <p:sp>
        <p:nvSpPr>
          <p:cNvPr id="7" name="cover-p">
            <a:extLst xmlns:a="http://schemas.openxmlformats.org/drawingml/2006/main">
              <a:ext uri="{FF2B5EF4-FFF2-40B4-BE49-F238E27FC236}">
                <a16:creationId xmlns:a16="http://schemas.microsoft.com/office/drawing/2014/main" id="{83AE6347-1780-41E8-B68C-96150817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957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rPr sz="3150" b="1">
                <a:solidFill>
                  <a:srgbClr val="2F6BFF"/>
                </a:solidFill>
                <a:latin typeface="Consolas"/>
                <a:ea typeface="Consolas"/>
                <a:cs typeface="Consolas"/>
              </a:rPr>
              <a:t>P(.)</a:t>
            </a:r>
          </a:p>
        </p:txBody>
      </p:sp>
      <p:sp>
        <p:nvSpPr>
          <p:cNvPr id="8" name="cover-c">
            <a:extLst xmlns:a="http://schemas.openxmlformats.org/drawingml/2006/main">
              <a:ext uri="{FF2B5EF4-FFF2-40B4-BE49-F238E27FC236}">
                <a16:creationId xmlns:a16="http://schemas.microsoft.com/office/drawing/2014/main" id="{0BF93FA0-8C66-4612-86D8-618468B9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625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31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C(.)</a:t>
            </a:r>
          </a:p>
        </p:txBody>
      </p:sp>
      <p:sp>
        <p:nvSpPr>
          <p:cNvPr id="9" name="cover-max">
            <a:extLst xmlns:a="http://schemas.openxmlformats.org/drawingml/2006/main">
              <a:ext uri="{FF2B5EF4-FFF2-40B4-BE49-F238E27FC236}">
                <a16:creationId xmlns:a16="http://schemas.microsoft.com/office/drawing/2014/main" id="{9D82010B-9DFD-4815-90FC-5970DA43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292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31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max(.)</a:t>
            </a:r>
          </a:p>
        </p:txBody>
      </p:sp>
    </p:spTree>
    <p:extLst>
      <p:ext uri="{BB962C8B-B14F-4D97-AF65-F5344CB8AC3E}">
        <p14:creationId xmlns:p14="http://schemas.microsoft.com/office/powerpoint/2010/main" val="21208106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B9ACB35D-8AD3-46FA-BD19-D3A0158C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ARCHITECTURE · 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DE11816-C843-488D-A925-7B0235B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先厘清数据路径，再讨论MFU</a:t>
            </a:r>
          </a:p>
        </p:txBody>
      </p:sp>
      <p:sp>
        <p:nvSpPr>
          <p:cNvPr id="3" name="slide2-subtitle">
            <a:extLst xmlns:a="http://schemas.openxmlformats.org/drawingml/2006/main">
              <a:ext uri="{FF2B5EF4-FFF2-40B4-BE49-F238E27FC236}">
                <a16:creationId xmlns:a16="http://schemas.microsoft.com/office/drawing/2014/main" id="{70981144-185A-41BD-ADE4-D987A759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HBF直读权重与bulk KV；DDR负责new KV与tail KV周转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0bdaac6554aa4"/>
          <a:stretch xmlns:a="http://schemas.openxmlformats.org/drawingml/2006/main"/>
        </p:blipFill>
        <p:spPr>
          <a:xfrm xmlns:a="http://schemas.openxmlformats.org/drawingml/2006/main">
            <a:off x="514350" y="1412135"/>
            <a:ext cx="11163300" cy="2662131"/>
          </a:xfrm>
          <a:prstGeom xmlns:a="http://schemas.openxmlformats.org/drawingml/2006/main" prst="rect">
            <a:avLst/>
          </a:prstGeom>
        </p:spPr>
      </p:pic>
      <p:sp>
        <p:nvSpPr>
          <p:cNvPr id="5" name="slide2-col-rule-1">
            <a:extLst xmlns:a="http://schemas.openxmlformats.org/drawingml/2006/main">
              <a:ext uri="{FF2B5EF4-FFF2-40B4-BE49-F238E27FC236}">
                <a16:creationId xmlns:a16="http://schemas.microsoft.com/office/drawing/2014/main" id="{3708BDB6-190C-4927-BDF0-2871313B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457700"/>
            <a:ext cx="9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2-col-rule-2">
            <a:extLst xmlns:a="http://schemas.openxmlformats.org/drawingml/2006/main">
              <a:ext uri="{FF2B5EF4-FFF2-40B4-BE49-F238E27FC236}">
                <a16:creationId xmlns:a16="http://schemas.microsoft.com/office/drawing/2014/main" id="{7C5B6470-C59D-4145-B361-AFA04624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57700"/>
            <a:ext cx="9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2-num-01">
            <a:extLst xmlns:a="http://schemas.openxmlformats.org/drawingml/2006/main">
              <a:ext uri="{FF2B5EF4-FFF2-40B4-BE49-F238E27FC236}">
                <a16:creationId xmlns:a16="http://schemas.microsoft.com/office/drawing/2014/main" id="{5E9D6B26-2462-453B-9628-023880AA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slide2-title-01">
            <a:extLst xmlns:a="http://schemas.openxmlformats.org/drawingml/2006/main">
              <a:ext uri="{FF2B5EF4-FFF2-40B4-BE49-F238E27FC236}">
                <a16:creationId xmlns:a16="http://schemas.microsoft.com/office/drawing/2014/main" id="{E07FD3E4-B3FE-489E-87C4-2DB9FCD7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存储分工</a:t>
            </a:r>
          </a:p>
        </p:txBody>
      </p:sp>
      <p:sp>
        <p:nvSpPr>
          <p:cNvPr id="9" name="slide2-body-01">
            <a:extLst xmlns:a="http://schemas.openxmlformats.org/drawingml/2006/main">
              <a:ext uri="{FF2B5EF4-FFF2-40B4-BE49-F238E27FC236}">
                <a16:creationId xmlns:a16="http://schemas.microsoft.com/office/drawing/2014/main" id="{A685B7F2-0FCA-4C41-8481-6ADDEF6A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HBF：权重与bulk KV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DDR：new/tail KV周转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SRAM：片上计算</a:t>
            </a:r>
          </a:p>
        </p:txBody>
      </p:sp>
      <p:sp>
        <p:nvSpPr>
          <p:cNvPr id="10" name="slide2-num-02">
            <a:extLst xmlns:a="http://schemas.openxmlformats.org/drawingml/2006/main">
              <a:ext uri="{FF2B5EF4-FFF2-40B4-BE49-F238E27FC236}">
                <a16:creationId xmlns:a16="http://schemas.microsoft.com/office/drawing/2014/main" id="{6C33EC1B-FE0A-46BA-B178-7C22E06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76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lide2-title-02">
            <a:extLst xmlns:a="http://schemas.openxmlformats.org/drawingml/2006/main">
              <a:ext uri="{FF2B5EF4-FFF2-40B4-BE49-F238E27FC236}">
                <a16:creationId xmlns:a16="http://schemas.microsoft.com/office/drawing/2014/main" id="{8EA5BC28-F947-4493-8A4B-BB388C63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62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并行方式</a:t>
            </a:r>
          </a:p>
        </p:txBody>
      </p:sp>
      <p:sp>
        <p:nvSpPr>
          <p:cNvPr id="12" name="slide2-body-02">
            <a:extLst xmlns:a="http://schemas.openxmlformats.org/drawingml/2006/main">
              <a:ext uri="{FF2B5EF4-FFF2-40B4-BE49-F238E27FC236}">
                <a16:creationId xmlns:a16="http://schemas.microsoft.com/office/drawing/2014/main" id="{616BDA30-5081-4808-BEF0-DAEC3E33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625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Attention采用TP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MoE采用top-k并行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减少all-to-all</a:t>
            </a:r>
          </a:p>
        </p:txBody>
      </p:sp>
      <p:sp>
        <p:nvSpPr>
          <p:cNvPr id="13" name="slide2-num-03">
            <a:extLst xmlns:a="http://schemas.openxmlformats.org/drawingml/2006/main">
              <a:ext uri="{FF2B5EF4-FFF2-40B4-BE49-F238E27FC236}">
                <a16:creationId xmlns:a16="http://schemas.microsoft.com/office/drawing/2014/main" id="{978D2FD4-AE9D-4A93-A190-A718CDD3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76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lide2-title-03">
            <a:extLst xmlns:a="http://schemas.openxmlformats.org/drawingml/2006/main">
              <a:ext uri="{FF2B5EF4-FFF2-40B4-BE49-F238E27FC236}">
                <a16:creationId xmlns:a16="http://schemas.microsoft.com/office/drawing/2014/main" id="{091B5D43-E83A-4BD9-8D91-1CAD5747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762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指标含义</a:t>
            </a:r>
          </a:p>
        </p:txBody>
      </p:sp>
      <p:sp>
        <p:nvSpPr>
          <p:cNvPr id="15" name="slide2-body-03">
            <a:extLst xmlns:a="http://schemas.openxmlformats.org/drawingml/2006/main">
              <a:ext uri="{FF2B5EF4-FFF2-40B4-BE49-F238E27FC236}">
                <a16:creationId xmlns:a16="http://schemas.microsoft.com/office/drawing/2014/main" id="{02564BB8-700C-485A-8656-C01C67B9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1625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P(.)：传输字节数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C(.)：计算操作数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max(.)：关键路径</a:t>
            </a:r>
          </a:p>
        </p:txBody>
      </p:sp>
      <p:sp>
        <p:nvSpPr>
          <p:cNvPr id="1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7486D9B-9CB5-4EE7-BB61-979851A9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-2">
            <a:extLst xmlns:a="http://schemas.openxmlformats.org/drawingml/2006/main">
              <a:ext uri="{FF2B5EF4-FFF2-40B4-BE49-F238E27FC236}">
                <a16:creationId xmlns:a16="http://schemas.microsoft.com/office/drawing/2014/main" id="{583FDBCD-F828-420E-BF0D-EB83EBB2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来源：端侧HBF云端应用MFU计算任务书 · 计算流</a:t>
            </a:r>
          </a:p>
        </p:txBody>
      </p:sp>
      <p:sp>
        <p:nvSpPr>
          <p:cNvPr id="18" name="page-2">
            <a:extLst xmlns:a="http://schemas.openxmlformats.org/drawingml/2006/main">
              <a:ext uri="{FF2B5EF4-FFF2-40B4-BE49-F238E27FC236}">
                <a16:creationId xmlns:a16="http://schemas.microsoft.com/office/drawing/2014/main" id="{B06A91A7-DFE4-46E1-8B65-C8C38376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1130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759C5540-CDB5-4646-91AE-B028676C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FORMULA REVIEW · 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37FF98B-A7CF-4948-AA43-14253427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问题要分清：公式错误 ≠ 建模缺口</a:t>
            </a:r>
          </a:p>
        </p:txBody>
      </p:sp>
      <p:sp>
        <p:nvSpPr>
          <p:cNvPr id="3" name="slide3-subtitle">
            <a:extLst xmlns:a="http://schemas.openxmlformats.org/drawingml/2006/main">
              <a:ext uri="{FF2B5EF4-FFF2-40B4-BE49-F238E27FC236}">
                <a16:creationId xmlns:a16="http://schemas.microsoft.com/office/drawing/2014/main" id="{3F242A3E-12C1-4D9F-942D-51E55912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前者可以按量纲与依赖直接修正；后者必须等待定义</a:t>
            </a:r>
          </a:p>
        </p:txBody>
      </p:sp>
      <p:sp>
        <p:nvSpPr>
          <p:cNvPr id="4" name="formula-frame">
            <a:extLst xmlns:a="http://schemas.openxmlformats.org/drawingml/2006/main">
              <a:ext uri="{FF2B5EF4-FFF2-40B4-BE49-F238E27FC236}">
                <a16:creationId xmlns:a16="http://schemas.microsoft.com/office/drawing/2014/main" id="{E8D876D2-B7AC-41A3-8BAC-35DA12A2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953125" cy="4705350"/>
          </a:xfrm>
          <a:prstGeom xmlns:a="http://schemas.openxmlformats.org/drawingml/2006/main" prst="roundRect">
            <a:avLst>
              <a:gd name="adj" fmla="val 12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de2aa52934092"/>
          <a:stretch xmlns:a="http://schemas.openxmlformats.org/drawingml/2006/main"/>
        </p:blipFill>
        <p:spPr>
          <a:xfrm xmlns:a="http://schemas.openxmlformats.org/drawingml/2006/main">
            <a:off x="827237" y="1485900"/>
            <a:ext cx="5327350" cy="4591050"/>
          </a:xfrm>
          <a:prstGeom xmlns:a="http://schemas.openxmlformats.org/drawingml/2006/main" prst="rect">
            <a:avLst/>
          </a:prstGeom>
        </p:spPr>
      </p:pic>
      <p:sp>
        <p:nvSpPr>
          <p:cNvPr id="6" name="confirmed-bar">
            <a:extLst xmlns:a="http://schemas.openxmlformats.org/drawingml/2006/main">
              <a:ext uri="{FF2B5EF4-FFF2-40B4-BE49-F238E27FC236}">
                <a16:creationId xmlns:a16="http://schemas.microsoft.com/office/drawing/2014/main" id="{864255B0-95C4-4D97-A58F-D9774DD8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38275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firmed-title">
            <a:extLst xmlns:a="http://schemas.openxmlformats.org/drawingml/2006/main">
              <a:ext uri="{FF2B5EF4-FFF2-40B4-BE49-F238E27FC236}">
                <a16:creationId xmlns:a16="http://schemas.microsoft.com/office/drawing/2014/main" id="{19AD4A51-060E-4FD8-868D-16EE77A7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2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确定错误</a:t>
            </a:r>
          </a:p>
        </p:txBody>
      </p:sp>
      <p:sp>
        <p:nvSpPr>
          <p:cNvPr id="8" name="confirmed-list">
            <a:extLst xmlns:a="http://schemas.openxmlformats.org/drawingml/2006/main">
              <a:ext uri="{FF2B5EF4-FFF2-40B4-BE49-F238E27FC236}">
                <a16:creationId xmlns:a16="http://schemas.microsoft.com/office/drawing/2014/main" id="{99E528A9-83EC-4F4C-B6D0-B9C1BEE5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45243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C(ffn_out)量纲错误，应使用P(ffn_out)</a:t>
            </a:r>
          </a:p>
          <a:p xmlns:a="http://schemas.openxmlformats.org/drawingml/2006/main">
            <a:pPr marL="20" indent="-12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DDR路径缺少new KV写入依赖与tail数据量</a:t>
            </a:r>
          </a:p>
          <a:p xmlns:a="http://schemas.openxmlformats.org/drawingml/2006/main">
            <a:pPr marL="20" indent="-12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KV write漏计hbf_lat</a:t>
            </a:r>
          </a:p>
          <a:p xmlns:a="http://schemas.openxmlformats.org/drawingml/2006/main">
            <a:pPr marL="20" indent="-12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allreuce_e变量拼写不一致</a:t>
            </a:r>
          </a:p>
        </p:txBody>
      </p:sp>
      <p:sp>
        <p:nvSpPr>
          <p:cNvPr id="9" name="slide3-divider">
            <a:extLst xmlns:a="http://schemas.openxmlformats.org/drawingml/2006/main">
              <a:ext uri="{FF2B5EF4-FFF2-40B4-BE49-F238E27FC236}">
                <a16:creationId xmlns:a16="http://schemas.microsoft.com/office/drawing/2014/main" id="{DA8AFD46-7A6E-4303-8EDD-886015E4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791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ssing-bar">
            <a:extLst xmlns:a="http://schemas.openxmlformats.org/drawingml/2006/main">
              <a:ext uri="{FF2B5EF4-FFF2-40B4-BE49-F238E27FC236}">
                <a16:creationId xmlns:a16="http://schemas.microsoft.com/office/drawing/2014/main" id="{901F3981-C4CB-4AAE-B80B-D638E260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766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issing-title">
            <a:extLst xmlns:a="http://schemas.openxmlformats.org/drawingml/2006/main">
              <a:ext uri="{FF2B5EF4-FFF2-40B4-BE49-F238E27FC236}">
                <a16:creationId xmlns:a16="http://schemas.microsoft.com/office/drawing/2014/main" id="{2E868006-9337-4B71-A9F6-0EB8D354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原文未定义</a:t>
            </a:r>
          </a:p>
        </p:txBody>
      </p:sp>
      <p:sp>
        <p:nvSpPr>
          <p:cNvPr id="12" name="missing-list">
            <a:extLst xmlns:a="http://schemas.openxmlformats.org/drawingml/2006/main">
              <a:ext uri="{FF2B5EF4-FFF2-40B4-BE49-F238E27FC236}">
                <a16:creationId xmlns:a16="http://schemas.microsoft.com/office/drawing/2014/main" id="{611AC123-8594-44CB-928C-1492735C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24350"/>
            <a:ext cx="4524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AFD完整时序与资源分工</a:t>
            </a:r>
          </a:p>
          <a:p xmlns:a="http://schemas.openxmlformats.org/drawingml/2006/main">
            <a:pPr marL="20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tail_kv_tokens的取值规则</a:t>
            </a:r>
          </a:p>
          <a:p xmlns:a="http://schemas.openxmlformats.org/drawingml/2006/main">
            <a:pPr marL="20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250 us如何进入总时长</a:t>
            </a:r>
          </a:p>
          <a:p xmlns:a="http://schemas.openxmlformats.org/drawingml/2006/main">
            <a:pPr marL="20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top-k / vector / tiling / 通信重叠</a:t>
            </a:r>
          </a:p>
        </p:txBody>
      </p:sp>
      <p:sp>
        <p:nvSpPr>
          <p:cNvPr id="13" name="slide3-takeaway">
            <a:extLst xmlns:a="http://schemas.openxmlformats.org/drawingml/2006/main">
              <a:ext uri="{FF2B5EF4-FFF2-40B4-BE49-F238E27FC236}">
                <a16:creationId xmlns:a16="http://schemas.microsoft.com/office/drawing/2014/main" id="{A9578EAB-3B87-4318-A45D-E32C6DDD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810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缺失信息 ≠ 可以随意拟合</a:t>
            </a:r>
          </a:p>
        </p:txBody>
      </p:sp>
      <p:sp>
        <p:nvSpPr>
          <p:cNvPr id="1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0A1852BE-8260-40B8-B66F-40A54373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urce-3">
            <a:extLst xmlns:a="http://schemas.openxmlformats.org/drawingml/2006/main">
              <a:ext uri="{FF2B5EF4-FFF2-40B4-BE49-F238E27FC236}">
                <a16:creationId xmlns:a16="http://schemas.microsoft.com/office/drawing/2014/main" id="{F329E6C5-8A74-478A-AC6A-D038A706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来源：任务书原始公式；问题按量纲、数据依赖与定义完整性分类</a:t>
            </a:r>
          </a:p>
        </p:txBody>
      </p:sp>
      <p:sp>
        <p:nvSpPr>
          <p:cNvPr id="16" name="page-3">
            <a:extLst xmlns:a="http://schemas.openxmlformats.org/drawingml/2006/main">
              <a:ext uri="{FF2B5EF4-FFF2-40B4-BE49-F238E27FC236}">
                <a16:creationId xmlns:a16="http://schemas.microsoft.com/office/drawing/2014/main" id="{4E727677-F286-4F01-9300-F817F416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1422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6DCD5FB7-4896-40A6-B00B-A24D5625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IMPLEMENTATION · 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8A6DB4F-3865-4FDA-8343-8DBAF758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基础链路已经端到端跑通</a:t>
            </a:r>
          </a:p>
        </p:txBody>
      </p:sp>
      <p:sp>
        <p:nvSpPr>
          <p:cNvPr id="3" name="slide4-subtitle">
            <a:extLst xmlns:a="http://schemas.openxmlformats.org/drawingml/2006/main">
              <a:ext uri="{FF2B5EF4-FFF2-40B4-BE49-F238E27FC236}">
                <a16:creationId xmlns:a16="http://schemas.microsoft.com/office/drawing/2014/main" id="{AD349380-9233-4EF1-9D96-16866F72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硬件与场景作为输入，公式过程可逐层追踪</a:t>
            </a:r>
          </a:p>
        </p:txBody>
      </p:sp>
      <p:sp>
        <p:nvSpPr>
          <p:cNvPr id="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A203700E-82F6-421A-8ED2-022DF9D6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10502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AE7C1F3C-3833-4153-8B61-6D84E729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0502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14758567-75BE-4928-AACA-EEE3DFE7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0502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13050C2E-6D99-470B-9A92-38CCE47F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0502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F0311E1B-05E2-4423-B653-F2E87AE7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10502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label-input">
            <a:extLst xmlns:a="http://schemas.openxmlformats.org/drawingml/2006/main">
              <a:ext uri="{FF2B5EF4-FFF2-40B4-BE49-F238E27FC236}">
                <a16:creationId xmlns:a16="http://schemas.microsoft.com/office/drawing/2014/main" id="{8852603A-28AC-42E5-B81F-6949D649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0" name="flow-label-engine">
            <a:extLst xmlns:a="http://schemas.openxmlformats.org/drawingml/2006/main">
              <a:ext uri="{FF2B5EF4-FFF2-40B4-BE49-F238E27FC236}">
                <a16:creationId xmlns:a16="http://schemas.microsoft.com/office/drawing/2014/main" id="{3CCD6359-4D75-4084-9B6C-E9C6CBBF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04950"/>
            <a:ext cx="5133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FORMULA ENGINE</a:t>
            </a:r>
          </a:p>
        </p:txBody>
      </p:sp>
      <p:sp>
        <p:nvSpPr>
          <p:cNvPr id="11" name="flow-label-output">
            <a:extLst xmlns:a="http://schemas.openxmlformats.org/drawingml/2006/main">
              <a:ext uri="{FF2B5EF4-FFF2-40B4-BE49-F238E27FC236}">
                <a16:creationId xmlns:a16="http://schemas.microsoft.com/office/drawing/2014/main" id="{44C4469C-E186-4A77-A8CF-9C6F9065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5049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08B8DC7C-B066-41DA-9994-DB1C682D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19275"/>
            <a:ext cx="138112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硬件指标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Excel</a:t>
            </a:r>
          </a:p>
        </p:txBody>
      </p:sp>
      <p:sp>
        <p:nvSpPr>
          <p:cNvPr id="13" name="flow-node-2">
            <a:extLst xmlns:a="http://schemas.openxmlformats.org/drawingml/2006/main">
              <a:ext uri="{FF2B5EF4-FFF2-40B4-BE49-F238E27FC236}">
                <a16:creationId xmlns:a16="http://schemas.microsoft.com/office/drawing/2014/main" id="{71A0B061-BF15-4A4C-9D26-B95D980D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819275"/>
            <a:ext cx="138112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场景参数</a:t>
            </a:r>
          </a:p>
        </p:txBody>
      </p:sp>
      <p:sp>
        <p:nvSpPr>
          <p:cNvPr id="14" name="flow-node-3">
            <a:extLst xmlns:a="http://schemas.openxmlformats.org/drawingml/2006/main">
              <a:ext uri="{FF2B5EF4-FFF2-40B4-BE49-F238E27FC236}">
                <a16:creationId xmlns:a16="http://schemas.microsoft.com/office/drawing/2014/main" id="{4224D50A-8563-4B45-8B14-3B29C07F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19275"/>
            <a:ext cx="138112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 / C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展开</a:t>
            </a:r>
          </a:p>
        </p:txBody>
      </p:sp>
      <p:sp>
        <p:nvSpPr>
          <p:cNvPr id="15" name="flow-node-4">
            <a:extLst xmlns:a="http://schemas.openxmlformats.org/drawingml/2006/main">
              <a:ext uri="{FF2B5EF4-FFF2-40B4-BE49-F238E27FC236}">
                <a16:creationId xmlns:a16="http://schemas.microsoft.com/office/drawing/2014/main" id="{C0549548-9E76-42D6-B08E-B1EC71D9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19275"/>
            <a:ext cx="138112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单层时序</a:t>
            </a:r>
          </a:p>
        </p:txBody>
      </p:sp>
      <p:sp>
        <p:nvSpPr>
          <p:cNvPr id="16" name="flow-node-5">
            <a:extLst xmlns:a="http://schemas.openxmlformats.org/drawingml/2006/main">
              <a:ext uri="{FF2B5EF4-FFF2-40B4-BE49-F238E27FC236}">
                <a16:creationId xmlns:a16="http://schemas.microsoft.com/office/drawing/2014/main" id="{CEA65C2F-25FB-4117-9B0E-9FA79693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19275"/>
            <a:ext cx="138112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48层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串联</a:t>
            </a:r>
          </a:p>
        </p:txBody>
      </p:sp>
      <p:sp>
        <p:nvSpPr>
          <p:cNvPr id="17" name="flow-node-6">
            <a:extLst xmlns:a="http://schemas.openxmlformats.org/drawingml/2006/main">
              <a:ext uri="{FF2B5EF4-FFF2-40B4-BE49-F238E27FC236}">
                <a16:creationId xmlns:a16="http://schemas.microsoft.com/office/drawing/2014/main" id="{8776B333-327E-4F3B-B837-213EB850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19275"/>
            <a:ext cx="138112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CSV结果</a:t>
            </a:r>
          </a:p>
        </p:txBody>
      </p:sp>
      <p:sp>
        <p:nvSpPr>
          <p:cNvPr id="18" name="slide4-rule-1">
            <a:extLst xmlns:a="http://schemas.openxmlformats.org/drawingml/2006/main">
              <a:ext uri="{FF2B5EF4-FFF2-40B4-BE49-F238E27FC236}">
                <a16:creationId xmlns:a16="http://schemas.microsoft.com/office/drawing/2014/main" id="{951ED9BE-76EF-418C-962B-30A81F8A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24225"/>
            <a:ext cx="9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lide4-rule-2">
            <a:extLst xmlns:a="http://schemas.openxmlformats.org/drawingml/2006/main">
              <a:ext uri="{FF2B5EF4-FFF2-40B4-BE49-F238E27FC236}">
                <a16:creationId xmlns:a16="http://schemas.microsoft.com/office/drawing/2014/main" id="{47C02A2A-B075-4D6B-A8C1-0AD6B44C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24225"/>
            <a:ext cx="9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of-tag-01">
            <a:extLst xmlns:a="http://schemas.openxmlformats.org/drawingml/2006/main">
              <a:ext uri="{FF2B5EF4-FFF2-40B4-BE49-F238E27FC236}">
                <a16:creationId xmlns:a16="http://schemas.microsoft.com/office/drawing/2014/main" id="{0DD159F6-A51C-41F5-8D4D-1F93AD0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proof-title-01">
            <a:extLst xmlns:a="http://schemas.openxmlformats.org/drawingml/2006/main">
              <a:ext uri="{FF2B5EF4-FFF2-40B4-BE49-F238E27FC236}">
                <a16:creationId xmlns:a16="http://schemas.microsoft.com/office/drawing/2014/main" id="{E1F085DE-9D20-4E3B-8AF8-0C8FA611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输入可验证</a:t>
            </a:r>
          </a:p>
        </p:txBody>
      </p:sp>
      <p:sp>
        <p:nvSpPr>
          <p:cNvPr id="22" name="proof-body-01">
            <a:extLst xmlns:a="http://schemas.openxmlformats.org/drawingml/2006/main">
              <a:ext uri="{FF2B5EF4-FFF2-40B4-BE49-F238E27FC236}">
                <a16:creationId xmlns:a16="http://schemas.microsoft.com/office/drawing/2014/main" id="{CF0BA1F0-97DC-4ED8-B1A2-24EDB85A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9102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空值、单位与范围检查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硬件指标不写死</a:t>
            </a:r>
          </a:p>
        </p:txBody>
      </p:sp>
      <p:sp>
        <p:nvSpPr>
          <p:cNvPr id="23" name="proof-tag-02">
            <a:extLst xmlns:a="http://schemas.openxmlformats.org/drawingml/2006/main">
              <a:ext uri="{FF2B5EF4-FFF2-40B4-BE49-F238E27FC236}">
                <a16:creationId xmlns:a16="http://schemas.microsoft.com/office/drawing/2014/main" id="{99C5637D-C671-4EF1-B4D0-84CA30A6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roof-title-02">
            <a:extLst xmlns:a="http://schemas.openxmlformats.org/drawingml/2006/main">
              <a:ext uri="{FF2B5EF4-FFF2-40B4-BE49-F238E27FC236}">
                <a16:creationId xmlns:a16="http://schemas.microsoft.com/office/drawing/2014/main" id="{621AE477-D31C-46A8-BD29-9057F346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公式可追踪</a:t>
            </a:r>
          </a:p>
        </p:txBody>
      </p:sp>
      <p:sp>
        <p:nvSpPr>
          <p:cNvPr id="25" name="proof-body-02">
            <a:extLst xmlns:a="http://schemas.openxmlformats.org/drawingml/2006/main">
              <a:ext uri="{FF2B5EF4-FFF2-40B4-BE49-F238E27FC236}">
                <a16:creationId xmlns:a16="http://schemas.microsoft.com/office/drawing/2014/main" id="{40D9DD87-EBCB-4F83-9644-4844EECF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9102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各阶段start / end可导出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只做已确认的最小修正</a:t>
            </a:r>
          </a:p>
        </p:txBody>
      </p:sp>
      <p:sp>
        <p:nvSpPr>
          <p:cNvPr id="26" name="proof-tag-03">
            <a:extLst xmlns:a="http://schemas.openxmlformats.org/drawingml/2006/main">
              <a:ext uri="{FF2B5EF4-FFF2-40B4-BE49-F238E27FC236}">
                <a16:creationId xmlns:a16="http://schemas.microsoft.com/office/drawing/2014/main" id="{BA5DE82B-103F-4FA8-920D-13C3369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proof-title-03">
            <a:extLst xmlns:a="http://schemas.openxmlformats.org/drawingml/2006/main">
              <a:ext uri="{FF2B5EF4-FFF2-40B4-BE49-F238E27FC236}">
                <a16:creationId xmlns:a16="http://schemas.microsoft.com/office/drawing/2014/main" id="{0A69DB5E-8691-4053-BF98-B6701239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848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链路已跑通</a:t>
            </a:r>
          </a:p>
        </p:txBody>
      </p:sp>
      <p:sp>
        <p:nvSpPr>
          <p:cNvPr id="28" name="proof-body-03">
            <a:extLst xmlns:a="http://schemas.openxmlformats.org/drawingml/2006/main">
              <a:ext uri="{FF2B5EF4-FFF2-40B4-BE49-F238E27FC236}">
                <a16:creationId xmlns:a16="http://schemas.microsoft.com/office/drawing/2014/main" id="{8D45A60A-0843-4955-A2CB-3E783170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39102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prefill与decode均已验证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输出汇总与48层明细</a:t>
            </a:r>
          </a:p>
        </p:txBody>
      </p:sp>
      <p:sp>
        <p:nvSpPr>
          <p:cNvPr id="29" name="slide4-output">
            <a:extLst xmlns:a="http://schemas.openxmlformats.org/drawingml/2006/main">
              <a:ext uri="{FF2B5EF4-FFF2-40B4-BE49-F238E27FC236}">
                <a16:creationId xmlns:a16="http://schemas.microsoft.com/office/drawing/2014/main" id="{651DD05E-D8B0-474F-AD8E-9E876974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输出：MFU · HBF读利用率 · HBF写利用率 · E2E延迟 · 逐层时序</a:t>
            </a:r>
          </a:p>
        </p:txBody>
      </p:sp>
      <p:sp>
        <p:nvSpPr>
          <p:cNvPr id="30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FA46A7E-7DDD-46FE-A0DD-D7BE4945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ource-4">
            <a:extLst xmlns:a="http://schemas.openxmlformats.org/drawingml/2006/main">
              <a:ext uri="{FF2B5EF4-FFF2-40B4-BE49-F238E27FC236}">
                <a16:creationId xmlns:a16="http://schemas.microsoft.com/office/drawing/2014/main" id="{4A2CD7CB-0D3B-45C9-AAED-D92BE4CE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来源：当前硬件模板、HBF_MFU公式仿真器及公式测试</a:t>
            </a:r>
          </a:p>
        </p:txBody>
      </p:sp>
      <p:sp>
        <p:nvSpPr>
          <p:cNvPr id="32" name="page-4">
            <a:extLst xmlns:a="http://schemas.openxmlformats.org/drawingml/2006/main">
              <a:ext uri="{FF2B5EF4-FFF2-40B4-BE49-F238E27FC236}">
                <a16:creationId xmlns:a16="http://schemas.microsoft.com/office/drawing/2014/main" id="{9FF7DAB2-A825-485D-9152-F5E824BF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26055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0184EDCB-BB64-41EB-BFD3-63E7058C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CURRENT BOUNDARY · 05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0A23B8D-016D-4E80-88AB-CBC7A4CE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52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基础链路已跑通，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但还不是硬件校准模型</a:t>
            </a:r>
          </a:p>
        </p:txBody>
      </p:sp>
      <p:sp>
        <p:nvSpPr>
          <p:cNvPr id="3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6F89ED0F-0F6B-4924-81FC-9FD993FB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5E1E5642-FAA2-43D4-AFB3-F1C619DE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714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当前成果的价值在于：公式可追踪、输入可验证、边界明确。</a:t>
            </a:r>
          </a:p>
        </p:txBody>
      </p:sp>
      <p:sp>
        <p:nvSpPr>
          <p:cNvPr id="5" name="close-divider">
            <a:extLst xmlns:a="http://schemas.openxmlformats.org/drawingml/2006/main">
              <a:ext uri="{FF2B5EF4-FFF2-40B4-BE49-F238E27FC236}">
                <a16:creationId xmlns:a16="http://schemas.microsoft.com/office/drawing/2014/main" id="{D3E5BB96-8AC4-404C-92A0-680E915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8112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58FECAF9-3D1A-4E76-991D-7107F2C6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close-value-1">
            <a:extLst xmlns:a="http://schemas.openxmlformats.org/drawingml/2006/main">
              <a:ext uri="{FF2B5EF4-FFF2-40B4-BE49-F238E27FC236}">
                <a16:creationId xmlns:a16="http://schemas.microsoft.com/office/drawing/2014/main" id="{994DA558-F05B-4E7E-BC73-FFCCA5BB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单场景 · 非AFD · 48层</a:t>
            </a:r>
          </a:p>
        </p:txBody>
      </p:sp>
      <p:sp>
        <p:nvSpPr>
          <p:cNvPr id="8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EEB8E3C-8E49-4218-B225-6A9FAADA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未宣称</a:t>
            </a:r>
          </a:p>
        </p:txBody>
      </p:sp>
      <p:sp>
        <p:nvSpPr>
          <p:cNvPr id="9" name="close-value-2">
            <a:extLst xmlns:a="http://schemas.openxmlformats.org/drawingml/2006/main">
              <a:ext uri="{FF2B5EF4-FFF2-40B4-BE49-F238E27FC236}">
                <a16:creationId xmlns:a16="http://schemas.microsoft.com/office/drawing/2014/main" id="{8285C0C9-06B9-43B8-9801-74F93F8E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623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复现任务书中的具体数值</a:t>
            </a:r>
          </a:p>
        </p:txBody>
      </p:sp>
      <p:sp>
        <p:nvSpPr>
          <p:cNvPr id="10" name="close-label-3">
            <a:extLst xmlns:a="http://schemas.openxmlformats.org/drawingml/2006/main">
              <a:ext uri="{FF2B5EF4-FFF2-40B4-BE49-F238E27FC236}">
                <a16:creationId xmlns:a16="http://schemas.microsoft.com/office/drawing/2014/main" id="{AD8F2B3A-7D70-4EC1-9E5B-A9C4FC35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05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未擅自</a:t>
            </a:r>
          </a:p>
        </p:txBody>
      </p:sp>
      <p:sp>
        <p:nvSpPr>
          <p:cNvPr id="11" name="close-value-3">
            <a:extLst xmlns:a="http://schemas.openxmlformats.org/drawingml/2006/main">
              <a:ext uri="{FF2B5EF4-FFF2-40B4-BE49-F238E27FC236}">
                <a16:creationId xmlns:a16="http://schemas.microsoft.com/office/drawing/2014/main" id="{67CFD750-D3A3-4BEF-A507-6E8DA69B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补齐AFD与原文缺失公式</a:t>
            </a:r>
          </a:p>
        </p:txBody>
      </p:sp>
      <p:sp>
        <p:nvSpPr>
          <p:cNvPr id="12" name="close-bottom">
            <a:extLst xmlns:a="http://schemas.openxmlformats.org/drawingml/2006/main">
              <a:ext uri="{FF2B5EF4-FFF2-40B4-BE49-F238E27FC236}">
                <a16:creationId xmlns:a16="http://schemas.microsoft.com/office/drawing/2014/main" id="{8B5FD0E8-F308-4C4C-B6D7-8EB2D6F3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可追踪  /  可验证  /  边界明确</a:t>
            </a:r>
          </a:p>
        </p:txBody>
      </p:sp>
      <p:sp>
        <p:nvSpPr>
          <p:cNvPr id="1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873096E1-D996-4C93-B6BE-9A175C31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-5">
            <a:extLst xmlns:a="http://schemas.openxmlformats.org/drawingml/2006/main">
              <a:ext uri="{FF2B5EF4-FFF2-40B4-BE49-F238E27FC236}">
                <a16:creationId xmlns:a16="http://schemas.microsoft.com/office/drawing/2014/main" id="{F7DC0EB2-CA99-4CC0-BE0D-46F0007F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结论：基础公式链路可运行；真实硬件校准与AFD建模不在当前完成范围内</a:t>
            </a:r>
          </a:p>
        </p:txBody>
      </p:sp>
      <p:sp>
        <p:nvSpPr>
          <p:cNvPr id="15" name="page-5">
            <a:extLst xmlns:a="http://schemas.openxmlformats.org/drawingml/2006/main">
              <a:ext uri="{FF2B5EF4-FFF2-40B4-BE49-F238E27FC236}">
                <a16:creationId xmlns:a16="http://schemas.microsoft.com/office/drawing/2014/main" id="{6B47C163-341B-4E3F-9531-B79E039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235335"/>
      </p:ext>
    </p:extLst>
  </p:cSld>
</p:sld>
</file>

<file path=ppt/theme/theme1.xml><?xml version="1.0" encoding="utf-8"?>
<a:theme xmlns:a="http://schemas.openxmlformats.org/drawingml/2006/main" name="ChatGPT">
  <a:themeElements>
    <a:clrScheme name="HBF Technical Review">
      <a:dk1>
        <a:srgbClr val="000000"/>
      </a:dk1>
      <a:lt1>
        <a:srgbClr val="FFFFFF"/>
      </a:lt1>
      <a:dk2>
        <a:srgbClr val="1F2937"/>
      </a:dk2>
      <a:lt2>
        <a:srgbClr val="EDEDED"/>
      </a:lt2>
      <a:accent1>
        <a:srgbClr val="2F6BFF"/>
      </a:accent1>
      <a:accent2>
        <a:srgbClr val="F59E0B"/>
      </a:accent2>
      <a:accent3>
        <a:srgbClr val="0F766E"/>
      </a:accent3>
      <a:accent4>
        <a:srgbClr val="DC2626"/>
      </a:accent4>
      <a:accent5>
        <a:srgbClr val="7C3AED"/>
      </a:accent5>
      <a:accent6>
        <a:srgbClr val="16A34A"/>
      </a:accent6>
      <a:hlink>
        <a:srgbClr val="2F6B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HBF Technic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2026-07-13T19:42:54.7130000Z</dcterms:created>
  <dcterms:modified xsi:type="dcterms:W3CDTF">2026-07-13T19:42:54.7130000Z</dcterms:modified>
</coreProperties>
</file>