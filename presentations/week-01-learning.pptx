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8" d="100"/>
          <a:sy n="98" d="100"/>
        </p:scale>
        <p:origin x="132" y="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8E797DED-8F64-4393-AD72-6BA7A2729E30}"/>
              </a:ext>
            </a:extLst>
          </p:cNvPr>
          <p:cNvSpPr>
            <a:spLocks noGrp="1"/>
          </p:cNvSpPr>
          <p:nvPr/>
        </p:nvSpPr>
        <p:spPr>
          <a:xfrm>
            <a:off x="552450" y="914400"/>
            <a:ext cx="47625" cy="4286250"/>
          </a:xfrm>
          <a:prstGeom prst="rect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F6A8CCF-CE70-46F4-98EB-FEC694DB591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47625" cy="11620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131D57-8DD2-4480-8416-2D8E90465D8E}"/>
              </a:ext>
            </a:extLst>
          </p:cNvPr>
          <p:cNvSpPr>
            <a:spLocks noGrp="1"/>
          </p:cNvSpPr>
          <p:nvPr/>
        </p:nvSpPr>
        <p:spPr>
          <a:xfrm>
            <a:off x="876300" y="1257300"/>
            <a:ext cx="6858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6EB81E-4722-420E-B319-4D85DAE119F8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666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7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以 Stanford CS336 </a:t>
            </a:r>
            <a:r>
              <a:rPr sz="17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为主线，梳理语言模型从数据到架构的基础知识</a:t>
            </a:r>
            <a:endParaRPr sz="1725" b="0" dirty="0">
              <a:solidFill>
                <a:srgbClr val="47556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D668C4C-8D07-4FAE-97A3-CFA2F0238992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语言模型整体流程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9F6CF2A-0F99-44F2-8D6F-34E936643AB5}"/>
              </a:ext>
            </a:extLst>
          </p:cNvPr>
          <p:cNvSpPr>
            <a:spLocks noGrp="1"/>
          </p:cNvSpPr>
          <p:nvPr/>
        </p:nvSpPr>
        <p:spPr>
          <a:xfrm>
            <a:off x="3028950" y="312420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Tokenization / BPE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D133B89-662F-4A36-B06D-9B6854B8FA45}"/>
              </a:ext>
            </a:extLst>
          </p:cNvPr>
          <p:cNvSpPr>
            <a:spLocks noGrp="1"/>
          </p:cNvSpPr>
          <p:nvPr/>
        </p:nvSpPr>
        <p:spPr>
          <a:xfrm>
            <a:off x="914400" y="367665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PyTorch 张量计算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4E581EE-AA3A-493D-8224-D3A740ADFC03}"/>
              </a:ext>
            </a:extLst>
          </p:cNvPr>
          <p:cNvSpPr>
            <a:spLocks noGrp="1"/>
          </p:cNvSpPr>
          <p:nvPr/>
        </p:nvSpPr>
        <p:spPr>
          <a:xfrm>
            <a:off x="3028950" y="367665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FLOPs 与训练成本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463973C-B90D-4CF8-8393-06B204CEFCBA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Transformer 架构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9ADCDA3-AB43-4B07-96DF-ABC41D2D231B}"/>
              </a:ext>
            </a:extLst>
          </p:cNvPr>
          <p:cNvSpPr>
            <a:spLocks noGrp="1"/>
          </p:cNvSpPr>
          <p:nvPr/>
        </p:nvSpPr>
        <p:spPr>
          <a:xfrm>
            <a:off x="3028950" y="4229100"/>
            <a:ext cx="2000250" cy="38100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Assignment 1 准备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439E76-683D-421C-9A96-2BA2481A41A8}"/>
              </a:ext>
            </a:extLst>
          </p:cNvPr>
          <p:cNvSpPr>
            <a:spLocks noGrp="1"/>
          </p:cNvSpPr>
          <p:nvPr/>
        </p:nvSpPr>
        <p:spPr>
          <a:xfrm>
            <a:off x="914400" y="56388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汇报日期：2026.07.06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523089" y="1123950"/>
            <a:ext cx="3184673" cy="2762250"/>
          </a:xfrm>
          <a:prstGeom prst="roundRect">
            <a:avLst>
              <a:gd name="adj" fmla="val 2759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81947" y="4152900"/>
            <a:ext cx="3686006" cy="2076450"/>
          </a:xfrm>
          <a:prstGeom prst="roundRect">
            <a:avLst>
              <a:gd name="adj" fmla="val 3670"/>
            </a:avLst>
          </a:prstGeom>
        </p:spPr>
      </p:pic>
    </p:spTree>
    <p:extLst>
      <p:ext uri="{BB962C8B-B14F-4D97-AF65-F5344CB8AC3E}">
        <p14:creationId xmlns:p14="http://schemas.microsoft.com/office/powerpoint/2010/main" val="57410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24C7CCB-63AB-4D9C-96E3-55819C77E1B7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55B154B-8BE1-457E-869A-604224B63FFA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A761C4-D289-4943-B245-32B23A364400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F6092A-FEBC-48BF-ABA0-A55A9977FB8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本周学习内容概览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009E7B-6713-4109-BD2D-CA451E33F27F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围绕语言模型的输入表示、张量计算、训练成本、优化过程与 Transformer 架构展开。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7C72AA-DF18-4AA8-A02F-0C4381037B8C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321945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22A7435-AE7E-47AA-A810-7007A95EFE6E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4953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8BA455-1E58-49F3-BA61-715DDF6FBC94}"/>
              </a:ext>
            </a:extLst>
          </p:cNvPr>
          <p:cNvSpPr>
            <a:spLocks noGrp="1"/>
          </p:cNvSpPr>
          <p:nvPr/>
        </p:nvSpPr>
        <p:spPr>
          <a:xfrm>
            <a:off x="1524000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语言模型流程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A96AC9-C040-490A-8A4C-CA0706B4ED85}"/>
              </a:ext>
            </a:extLst>
          </p:cNvPr>
          <p:cNvSpPr>
            <a:spLocks noGrp="1"/>
          </p:cNvSpPr>
          <p:nvPr/>
        </p:nvSpPr>
        <p:spPr>
          <a:xfrm>
            <a:off x="914400" y="24955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文本如何一步步变成模型可计算的向量和预测结果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924D9EC-8C2D-4AFD-B923-E3FF1F0B4A61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321945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D917CA1-1DEC-4C59-8791-9C7DFD76919E}"/>
              </a:ext>
            </a:extLst>
          </p:cNvPr>
          <p:cNvSpPr>
            <a:spLocks noGrp="1"/>
          </p:cNvSpPr>
          <p:nvPr/>
        </p:nvSpPr>
        <p:spPr>
          <a:xfrm>
            <a:off x="4572000" y="2000250"/>
            <a:ext cx="4953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4A51224-2C62-48CE-AF15-B85E2EA0928A}"/>
              </a:ext>
            </a:extLst>
          </p:cNvPr>
          <p:cNvSpPr>
            <a:spLocks noGrp="1"/>
          </p:cNvSpPr>
          <p:nvPr/>
        </p:nvSpPr>
        <p:spPr>
          <a:xfrm>
            <a:off x="5219700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Tokenization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CDB3BC7-74F8-4671-9D8A-2B155D6C1C24}"/>
              </a:ext>
            </a:extLst>
          </p:cNvPr>
          <p:cNvSpPr>
            <a:spLocks noGrp="1"/>
          </p:cNvSpPr>
          <p:nvPr/>
        </p:nvSpPr>
        <p:spPr>
          <a:xfrm>
            <a:off x="4610100" y="24955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token、token id、embedding、BPE 的作用和区别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1520CBE-8BBC-45A6-A85F-F852F9B1EB9D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21945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EE773EA-3077-4147-89C8-FB40AB919994}"/>
              </a:ext>
            </a:extLst>
          </p:cNvPr>
          <p:cNvSpPr>
            <a:spLocks noGrp="1"/>
          </p:cNvSpPr>
          <p:nvPr/>
        </p:nvSpPr>
        <p:spPr>
          <a:xfrm>
            <a:off x="8267700" y="2000250"/>
            <a:ext cx="4953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A4F253-3CF4-4631-A104-AC180BBC1BF1}"/>
              </a:ext>
            </a:extLst>
          </p:cNvPr>
          <p:cNvSpPr>
            <a:spLocks noGrp="1"/>
          </p:cNvSpPr>
          <p:nvPr/>
        </p:nvSpPr>
        <p:spPr>
          <a:xfrm>
            <a:off x="8915400" y="2000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PyTorch 张量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7B38FB-2C91-4640-A326-99F61F603B4C}"/>
              </a:ext>
            </a:extLst>
          </p:cNvPr>
          <p:cNvSpPr>
            <a:spLocks noGrp="1"/>
          </p:cNvSpPr>
          <p:nvPr/>
        </p:nvSpPr>
        <p:spPr>
          <a:xfrm>
            <a:off x="8305800" y="24955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batch / seq / hidden / vocab 等维度如何流动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A0A581A-0C06-4B0C-A824-36E6C5272766}"/>
              </a:ext>
            </a:extLst>
          </p:cNvPr>
          <p:cNvSpPr>
            <a:spLocks noGrp="1"/>
          </p:cNvSpPr>
          <p:nvPr/>
        </p:nvSpPr>
        <p:spPr>
          <a:xfrm>
            <a:off x="704850" y="3562350"/>
            <a:ext cx="321945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C6C769D-649E-479D-8929-BD931CAE7CD9}"/>
              </a:ext>
            </a:extLst>
          </p:cNvPr>
          <p:cNvSpPr>
            <a:spLocks noGrp="1"/>
          </p:cNvSpPr>
          <p:nvPr/>
        </p:nvSpPr>
        <p:spPr>
          <a:xfrm>
            <a:off x="876300" y="3752850"/>
            <a:ext cx="4953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E3767B-ED28-4A6E-8B21-022FC62838C0}"/>
              </a:ext>
            </a:extLst>
          </p:cNvPr>
          <p:cNvSpPr>
            <a:spLocks noGrp="1"/>
          </p:cNvSpPr>
          <p:nvPr/>
        </p:nvSpPr>
        <p:spPr>
          <a:xfrm>
            <a:off x="1524000" y="3752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计算成本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FB3E8B6-A76A-4463-9C29-31AB2D4C3C9C}"/>
              </a:ext>
            </a:extLst>
          </p:cNvPr>
          <p:cNvSpPr>
            <a:spLocks noGrp="1"/>
          </p:cNvSpPr>
          <p:nvPr/>
        </p:nvSpPr>
        <p:spPr>
          <a:xfrm>
            <a:off x="914400" y="42481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FLOPs、FLOP/s、MFU、显存和带宽瓶颈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93F703-94F8-4975-9F56-8D6FDE353060}"/>
              </a:ext>
            </a:extLst>
          </p:cNvPr>
          <p:cNvSpPr>
            <a:spLocks noGrp="1"/>
          </p:cNvSpPr>
          <p:nvPr/>
        </p:nvSpPr>
        <p:spPr>
          <a:xfrm>
            <a:off x="4400550" y="3562350"/>
            <a:ext cx="321945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F9C1531-B8A6-4484-B2CE-C6155FDC6581}"/>
              </a:ext>
            </a:extLst>
          </p:cNvPr>
          <p:cNvSpPr>
            <a:spLocks noGrp="1"/>
          </p:cNvSpPr>
          <p:nvPr/>
        </p:nvSpPr>
        <p:spPr>
          <a:xfrm>
            <a:off x="4572000" y="3752850"/>
            <a:ext cx="49530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78F7E5E-9C01-46FB-8549-AF5EE6EFCE7F}"/>
              </a:ext>
            </a:extLst>
          </p:cNvPr>
          <p:cNvSpPr>
            <a:spLocks noGrp="1"/>
          </p:cNvSpPr>
          <p:nvPr/>
        </p:nvSpPr>
        <p:spPr>
          <a:xfrm>
            <a:off x="5219700" y="3752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反向传播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01A96E3-A399-4B9D-8E1B-0E3B288A4FB2}"/>
              </a:ext>
            </a:extLst>
          </p:cNvPr>
          <p:cNvSpPr>
            <a:spLocks noGrp="1"/>
          </p:cNvSpPr>
          <p:nvPr/>
        </p:nvSpPr>
        <p:spPr>
          <a:xfrm>
            <a:off x="4610100" y="42481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loss、gradient、optimizer.step 和 zero_grad 的关系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9A90EA2-4FD4-4EB9-975A-32A483434111}"/>
              </a:ext>
            </a:extLst>
          </p:cNvPr>
          <p:cNvSpPr>
            <a:spLocks noGrp="1"/>
          </p:cNvSpPr>
          <p:nvPr/>
        </p:nvSpPr>
        <p:spPr>
          <a:xfrm>
            <a:off x="8096250" y="3562350"/>
            <a:ext cx="3219450" cy="13716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5051002-A29B-48E0-A21C-85DA91095131}"/>
              </a:ext>
            </a:extLst>
          </p:cNvPr>
          <p:cNvSpPr>
            <a:spLocks noGrp="1"/>
          </p:cNvSpPr>
          <p:nvPr/>
        </p:nvSpPr>
        <p:spPr>
          <a:xfrm>
            <a:off x="8267700" y="3752850"/>
            <a:ext cx="495300" cy="342900"/>
          </a:xfrm>
          <a:prstGeom prst="roundRect">
            <a:avLst>
              <a:gd name="adj" fmla="val 22222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80B5BB-8DD1-442B-871F-50F5BA0C4F83}"/>
              </a:ext>
            </a:extLst>
          </p:cNvPr>
          <p:cNvSpPr>
            <a:spLocks noGrp="1"/>
          </p:cNvSpPr>
          <p:nvPr/>
        </p:nvSpPr>
        <p:spPr>
          <a:xfrm>
            <a:off x="8915400" y="3752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B1AABC1-47B8-4EDE-8D7E-6C62F5FE99BF}"/>
              </a:ext>
            </a:extLst>
          </p:cNvPr>
          <p:cNvSpPr>
            <a:spLocks noGrp="1"/>
          </p:cNvSpPr>
          <p:nvPr/>
        </p:nvSpPr>
        <p:spPr>
          <a:xfrm>
            <a:off x="8305800" y="4248150"/>
            <a:ext cx="2724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attention、MLP、Norm、RoPE、GQA 等架构组件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9E7B686C-75DF-46DF-8F3B-A3E05AB609A8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0363200" cy="590550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 lIns="152400" tIns="123825" rIns="152400" bIns="95250"/>
          <a:lstStyle/>
          <a:p>
            <a:pPr algn="ctr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阶段性结论：已形成“文本表示 → 张量计算 → 训练成本 → 优化过程 → Transformer 模块”的基础知识框架。</a:t>
            </a:r>
          </a:p>
        </p:txBody>
      </p:sp>
    </p:spTree>
    <p:extLst>
      <p:ext uri="{BB962C8B-B14F-4D97-AF65-F5344CB8AC3E}">
        <p14:creationId xmlns:p14="http://schemas.microsoft.com/office/powerpoint/2010/main" val="119944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F66249B-EE0D-4CC3-8BC2-6FFEFF388D9B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3B6E81A-CAE8-4D41-815C-9ECE069C72FF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59BA9-6378-4E68-AC1D-7AC097B86661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B4C5BF1-BB6C-45A6-8032-519CB64C890E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一、语言模型输入与预测链路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C17657-5A41-4772-B62B-F53E1622B921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语言模型并不直接处理自然语言字符串，而是通过 token、向量表示和 logits 完成下一个 token 的预测。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8ADD580-5154-41FC-AC82-75986FC3D1BA}"/>
              </a:ext>
            </a:extLst>
          </p:cNvPr>
          <p:cNvSpPr>
            <a:spLocks noGrp="1"/>
          </p:cNvSpPr>
          <p:nvPr/>
        </p:nvSpPr>
        <p:spPr>
          <a:xfrm>
            <a:off x="66675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Text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2036E6-5C32-4F55-BCAB-213D898C9073}"/>
              </a:ext>
            </a:extLst>
          </p:cNvPr>
          <p:cNvSpPr>
            <a:spLocks noGrp="1"/>
          </p:cNvSpPr>
          <p:nvPr/>
        </p:nvSpPr>
        <p:spPr>
          <a:xfrm>
            <a:off x="1809750" y="2076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9B9187E-BAD8-4C76-837A-2E44833D0F91}"/>
              </a:ext>
            </a:extLst>
          </p:cNvPr>
          <p:cNvSpPr>
            <a:spLocks noGrp="1"/>
          </p:cNvSpPr>
          <p:nvPr/>
        </p:nvSpPr>
        <p:spPr>
          <a:xfrm>
            <a:off x="220980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50FA480-D79A-4E45-B241-59399970F357}"/>
              </a:ext>
            </a:extLst>
          </p:cNvPr>
          <p:cNvSpPr>
            <a:spLocks noGrp="1"/>
          </p:cNvSpPr>
          <p:nvPr/>
        </p:nvSpPr>
        <p:spPr>
          <a:xfrm>
            <a:off x="3352800" y="2076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EB6F7F7-2CFE-4998-AC21-7961A965D04F}"/>
              </a:ext>
            </a:extLst>
          </p:cNvPr>
          <p:cNvSpPr>
            <a:spLocks noGrp="1"/>
          </p:cNvSpPr>
          <p:nvPr/>
        </p:nvSpPr>
        <p:spPr>
          <a:xfrm>
            <a:off x="375285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 IDs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5E243A-CA97-487F-BEEF-E0D5EC31A430}"/>
              </a:ext>
            </a:extLst>
          </p:cNvPr>
          <p:cNvSpPr>
            <a:spLocks noGrp="1"/>
          </p:cNvSpPr>
          <p:nvPr/>
        </p:nvSpPr>
        <p:spPr>
          <a:xfrm>
            <a:off x="4895850" y="2076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DBF714-9A53-41BA-9C9A-8A600628A3E2}"/>
              </a:ext>
            </a:extLst>
          </p:cNvPr>
          <p:cNvSpPr>
            <a:spLocks noGrp="1"/>
          </p:cNvSpPr>
          <p:nvPr/>
        </p:nvSpPr>
        <p:spPr>
          <a:xfrm>
            <a:off x="529590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Embeddings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E7D324-DADB-4F73-BCE4-D1F28AD81C8C}"/>
              </a:ext>
            </a:extLst>
          </p:cNvPr>
          <p:cNvSpPr>
            <a:spLocks noGrp="1"/>
          </p:cNvSpPr>
          <p:nvPr/>
        </p:nvSpPr>
        <p:spPr>
          <a:xfrm>
            <a:off x="6438900" y="2076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80B9F19-F5A0-4790-89FA-DB5F7B071BF0}"/>
              </a:ext>
            </a:extLst>
          </p:cNvPr>
          <p:cNvSpPr>
            <a:spLocks noGrp="1"/>
          </p:cNvSpPr>
          <p:nvPr/>
        </p:nvSpPr>
        <p:spPr>
          <a:xfrm>
            <a:off x="683895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27A50F-415B-4A55-9BA7-4EF6F9B44220}"/>
              </a:ext>
            </a:extLst>
          </p:cNvPr>
          <p:cNvSpPr>
            <a:spLocks noGrp="1"/>
          </p:cNvSpPr>
          <p:nvPr/>
        </p:nvSpPr>
        <p:spPr>
          <a:xfrm>
            <a:off x="7981950" y="2076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6757F08-1093-45B4-80A9-771B251AC074}"/>
              </a:ext>
            </a:extLst>
          </p:cNvPr>
          <p:cNvSpPr>
            <a:spLocks noGrp="1"/>
          </p:cNvSpPr>
          <p:nvPr/>
        </p:nvSpPr>
        <p:spPr>
          <a:xfrm>
            <a:off x="838200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Logits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F0A82E4-84E8-4391-B95D-37D73364A320}"/>
              </a:ext>
            </a:extLst>
          </p:cNvPr>
          <p:cNvSpPr>
            <a:spLocks noGrp="1"/>
          </p:cNvSpPr>
          <p:nvPr/>
        </p:nvSpPr>
        <p:spPr>
          <a:xfrm>
            <a:off x="9525000" y="2076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5F5C7A9-F0B4-4D38-BAD9-DD07E7C3B64B}"/>
              </a:ext>
            </a:extLst>
          </p:cNvPr>
          <p:cNvSpPr>
            <a:spLocks noGrp="1"/>
          </p:cNvSpPr>
          <p:nvPr/>
        </p:nvSpPr>
        <p:spPr>
          <a:xfrm>
            <a:off x="9925050" y="2000250"/>
            <a:ext cx="1123950" cy="47625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Loss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" y="3093231"/>
            <a:ext cx="4838700" cy="1985988"/>
          </a:xfrm>
          <a:prstGeom prst="roundRect">
            <a:avLst>
              <a:gd name="adj" fmla="val 3478"/>
            </a:avLst>
          </a:prstGeom>
        </p:spPr>
      </p:pic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1D85F80-DE5A-4C27-BD99-3054B0EABF74}"/>
              </a:ext>
            </a:extLst>
          </p:cNvPr>
          <p:cNvSpPr>
            <a:spLocks noGrp="1"/>
          </p:cNvSpPr>
          <p:nvPr/>
        </p:nvSpPr>
        <p:spPr>
          <a:xfrm>
            <a:off x="6019800" y="2971800"/>
            <a:ext cx="4781550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计算链路要点：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 文本首先被映射为 token IDs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 token IDs 经 embedding 表转为向量表示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 Transformer 基于上下文输出 logits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- loss 用于度量预测分布与目标 token 的差异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F0D4066-7CD7-4239-A5BE-9CC55C4BFD99}"/>
              </a:ext>
            </a:extLst>
          </p:cNvPr>
          <p:cNvSpPr>
            <a:spLocks noGrp="1"/>
          </p:cNvSpPr>
          <p:nvPr/>
        </p:nvSpPr>
        <p:spPr>
          <a:xfrm>
            <a:off x="6019800" y="4953000"/>
            <a:ext cx="4781550" cy="742950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关键结论：token 是训练和推理过程中的基本离散单位，而不是自然语言层面的“词”。</a:t>
            </a:r>
          </a:p>
        </p:txBody>
      </p:sp>
    </p:spTree>
    <p:extLst>
      <p:ext uri="{BB962C8B-B14F-4D97-AF65-F5344CB8AC3E}">
        <p14:creationId xmlns:p14="http://schemas.microsoft.com/office/powerpoint/2010/main" val="144320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B00AD35-0E0E-4D50-9D60-93A39326A6A3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206670-620E-40D5-A577-63D0FA9A8446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134ADD0-38F1-4264-ADC6-9BD0F3A6FC1D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AD919F-EB5F-4B4F-9F80-3CEA13375175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二、Tokenization 与 BPE 方法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14284B2-C10B-4A60-810B-E868C113159E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Tokenization 决定文本切分方式，并影响上下文长度、词表规模和模型输入表示。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66750" y="1793424"/>
            <a:ext cx="4953000" cy="2032901"/>
          </a:xfrm>
          <a:prstGeom prst="roundRect">
            <a:avLst>
              <a:gd name="adj" fmla="val 3200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69E4B1F9-7AA6-42E4-B1A7-DE96565D405F}"/>
              </a:ext>
            </a:extLst>
          </p:cNvPr>
          <p:cNvSpPr>
            <a:spLocks noGrp="1"/>
          </p:cNvSpPr>
          <p:nvPr/>
        </p:nvSpPr>
        <p:spPr>
          <a:xfrm>
            <a:off x="6019800" y="16383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Tokenization 要解决的问题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自然语言是字符串，模型需要整数 ID。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所以 tokenizer 负责：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文本 → token → token id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5DF9D46-5049-4735-ABA7-633D223275A7}"/>
              </a:ext>
            </a:extLst>
          </p:cNvPr>
          <p:cNvSpPr>
            <a:spLocks noGrp="1"/>
          </p:cNvSpPr>
          <p:nvPr/>
        </p:nvSpPr>
        <p:spPr>
          <a:xfrm>
            <a:off x="6019800" y="3162300"/>
            <a:ext cx="4762500" cy="11430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BPE 的直觉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从字符开始，反复合并最常见的相邻片段。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最后得到常见词、词根、标点、代码片段等 token。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F2BF0CE-C9E0-4D6E-BF7D-26DE75279AED}"/>
              </a:ext>
            </a:extLst>
          </p:cNvPr>
          <p:cNvSpPr>
            <a:spLocks noGrp="1"/>
          </p:cNvSpPr>
          <p:nvPr/>
        </p:nvSpPr>
        <p:spPr>
          <a:xfrm>
            <a:off x="6019800" y="4572000"/>
            <a:ext cx="4762500" cy="876300"/>
          </a:xfrm>
          <a:prstGeom prst="roundRect">
            <a:avLst>
              <a:gd name="adj" fmla="val 8696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后续实践任务</a:t>
            </a:r>
          </a:p>
          <a:p>
            <a:pPr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Assignment 1 将实现 BPE tokenizer，从算法流程进一步落实到可测试代码。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F00D37-26C9-4E37-994A-2EC8F16E32E8}"/>
              </a:ext>
            </a:extLst>
          </p:cNvPr>
          <p:cNvSpPr>
            <a:spLocks noGrp="1"/>
          </p:cNvSpPr>
          <p:nvPr/>
        </p:nvSpPr>
        <p:spPr>
          <a:xfrm>
            <a:off x="737276" y="5791200"/>
            <a:ext cx="609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例：同一句话，不同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tokenizer </a:t>
            </a: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可能切出不同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token，因此相同文本消耗的上下文长度也可能不同</a:t>
            </a:r>
            <a:r>
              <a:rPr sz="1425" b="0" dirty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7028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C47A00D3-E779-41CF-A90D-476086EC1BE5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A4262D-82F0-4C35-B6E7-A23F39335166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8477F4-F740-4F92-A67E-D5342EE75092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7C58F2-1186-44C2-957B-E41DD33AD82A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三、张量形状与模型计算表示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507148-0869-4F5F-9CCF-C9F0DBA95C78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PyTorch 计算的核心不仅是 API 调用，更重要的是跟踪 batch、seq、hidden、vocab 等维度流动。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4DF8830-0F41-4E2E-B4F5-4158816C45B3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5029200" cy="3143250"/>
          </a:xfrm>
          <a:prstGeom prst="roundRect">
            <a:avLst>
              <a:gd name="adj" fmla="val 2424"/>
            </a:avLst>
          </a:prstGeom>
          <a:solidFill>
            <a:srgbClr val="F1F5F9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E4055D-5421-4CA9-91D3-364A292C3E84}"/>
              </a:ext>
            </a:extLst>
          </p:cNvPr>
          <p:cNvSpPr>
            <a:spLocks noGrp="1"/>
          </p:cNvSpPr>
          <p:nvPr/>
        </p:nvSpPr>
        <p:spPr>
          <a:xfrm>
            <a:off x="914400" y="1924050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x: batch × seq × hidden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EA66E5-4743-4426-91EF-0EA6EC097188}"/>
              </a:ext>
            </a:extLst>
          </p:cNvPr>
          <p:cNvSpPr>
            <a:spLocks noGrp="1"/>
          </p:cNvSpPr>
          <p:nvPr/>
        </p:nvSpPr>
        <p:spPr>
          <a:xfrm>
            <a:off x="914400" y="2181225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w: hidden × vocab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82FBC2-7CE8-4191-859D-CFA35126D0BE}"/>
              </a:ext>
            </a:extLst>
          </p:cNvPr>
          <p:cNvSpPr>
            <a:spLocks noGrp="1"/>
          </p:cNvSpPr>
          <p:nvPr/>
        </p:nvSpPr>
        <p:spPr>
          <a:xfrm>
            <a:off x="914400" y="2438400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4536808-1205-424A-B27D-60FEAC70C295}"/>
              </a:ext>
            </a:extLst>
          </p:cNvPr>
          <p:cNvSpPr>
            <a:spLocks noGrp="1"/>
          </p:cNvSpPr>
          <p:nvPr/>
        </p:nvSpPr>
        <p:spPr>
          <a:xfrm>
            <a:off x="914400" y="2590800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logits = einsum(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DD1CD9-79B9-4EA4-93DC-B1E8BA9F3FF5}"/>
              </a:ext>
            </a:extLst>
          </p:cNvPr>
          <p:cNvSpPr>
            <a:spLocks noGrp="1"/>
          </p:cNvSpPr>
          <p:nvPr/>
        </p:nvSpPr>
        <p:spPr>
          <a:xfrm>
            <a:off x="914400" y="2847975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x, w,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126548-BAEB-4183-8560-3E27948BB622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"batch seq hidden, hidden vocab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C0A8F6E-CAAF-4DCB-9039-1D78C7DF1154}"/>
              </a:ext>
            </a:extLst>
          </p:cNvPr>
          <p:cNvSpPr>
            <a:spLocks noGrp="1"/>
          </p:cNvSpPr>
          <p:nvPr/>
        </p:nvSpPr>
        <p:spPr>
          <a:xfrm>
            <a:off x="914400" y="3362325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   -&gt; batch seq vocab"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3C48343-99F2-4473-BEB2-A08114012A4E}"/>
              </a:ext>
            </a:extLst>
          </p:cNvPr>
          <p:cNvSpPr>
            <a:spLocks noGrp="1"/>
          </p:cNvSpPr>
          <p:nvPr/>
        </p:nvSpPr>
        <p:spPr>
          <a:xfrm>
            <a:off x="914400" y="3619500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DE190D-1F6D-4B3C-9EB7-22D8806C79CF}"/>
              </a:ext>
            </a:extLst>
          </p:cNvPr>
          <p:cNvSpPr>
            <a:spLocks noGrp="1"/>
          </p:cNvSpPr>
          <p:nvPr/>
        </p:nvSpPr>
        <p:spPr>
          <a:xfrm>
            <a:off x="914400" y="3876675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B0BFFC7-0519-423C-9993-001E76C451E1}"/>
              </a:ext>
            </a:extLst>
          </p:cNvPr>
          <p:cNvSpPr>
            <a:spLocks noGrp="1"/>
          </p:cNvSpPr>
          <p:nvPr/>
        </p:nvSpPr>
        <p:spPr>
          <a:xfrm>
            <a:off x="914400" y="4029075"/>
            <a:ext cx="453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没有出现在输出里的维度会被求和。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59938" y="5067300"/>
            <a:ext cx="1585674" cy="838200"/>
          </a:xfrm>
          <a:prstGeom prst="roundRect">
            <a:avLst>
              <a:gd name="adj" fmla="val 9091"/>
            </a:avLst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4479F47-ECD1-4342-8F77-9C7D33FD4749}"/>
              </a:ext>
            </a:extLst>
          </p:cNvPr>
          <p:cNvSpPr>
            <a:spLocks noGrp="1"/>
          </p:cNvSpPr>
          <p:nvPr/>
        </p:nvSpPr>
        <p:spPr>
          <a:xfrm>
            <a:off x="6172200" y="1676400"/>
            <a:ext cx="4286250" cy="45720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几个核心维度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4ED2CDA0-AF6B-4420-88B7-E80F5EA51257}"/>
              </a:ext>
            </a:extLst>
          </p:cNvPr>
          <p:cNvSpPr>
            <a:spLocks noGrp="1"/>
          </p:cNvSpPr>
          <p:nvPr/>
        </p:nvSpPr>
        <p:spPr>
          <a:xfrm>
            <a:off x="6286500" y="2533650"/>
            <a:ext cx="85725" cy="8572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C82F9D-490B-4CBD-9BDA-1936B83AD802}"/>
              </a:ext>
            </a:extLst>
          </p:cNvPr>
          <p:cNvSpPr>
            <a:spLocks noGrp="1"/>
          </p:cNvSpPr>
          <p:nvPr/>
        </p:nvSpPr>
        <p:spPr>
          <a:xfrm>
            <a:off x="6457950" y="24574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batch：一次并行处理多少条样本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EC5266F-EF01-4687-870C-C2F53D80DB1A}"/>
              </a:ext>
            </a:extLst>
          </p:cNvPr>
          <p:cNvSpPr>
            <a:spLocks noGrp="1"/>
          </p:cNvSpPr>
          <p:nvPr/>
        </p:nvSpPr>
        <p:spPr>
          <a:xfrm>
            <a:off x="6286500" y="3009900"/>
            <a:ext cx="85725" cy="8572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BA4CE18-8393-485D-8A63-A9E44BEACD11}"/>
              </a:ext>
            </a:extLst>
          </p:cNvPr>
          <p:cNvSpPr>
            <a:spLocks noGrp="1"/>
          </p:cNvSpPr>
          <p:nvPr/>
        </p:nvSpPr>
        <p:spPr>
          <a:xfrm>
            <a:off x="6457950" y="29337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seq：每条样本有多少 token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ECF7519-2ACA-4A8F-B2E1-DDE5A1210257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85725" cy="8572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5D3F355-E0FB-4ECB-970B-58D50FDB2834}"/>
              </a:ext>
            </a:extLst>
          </p:cNvPr>
          <p:cNvSpPr>
            <a:spLocks noGrp="1"/>
          </p:cNvSpPr>
          <p:nvPr/>
        </p:nvSpPr>
        <p:spPr>
          <a:xfrm>
            <a:off x="6457950" y="340995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hidden：每个 token 的向量维度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64FE00B7-C489-47D0-BDB1-D01CD0B3DD66}"/>
              </a:ext>
            </a:extLst>
          </p:cNvPr>
          <p:cNvSpPr>
            <a:spLocks noGrp="1"/>
          </p:cNvSpPr>
          <p:nvPr/>
        </p:nvSpPr>
        <p:spPr>
          <a:xfrm>
            <a:off x="6286500" y="3962400"/>
            <a:ext cx="85725" cy="85725"/>
          </a:xfrm>
          <a:prstGeom prst="ellips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35DF52-191C-40E5-8FE6-AB62F7DD6BA4}"/>
              </a:ext>
            </a:extLst>
          </p:cNvPr>
          <p:cNvSpPr>
            <a:spLocks noGrp="1"/>
          </p:cNvSpPr>
          <p:nvPr/>
        </p:nvSpPr>
        <p:spPr>
          <a:xfrm>
            <a:off x="6457950" y="3886200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vocab：最终要预测的词表大小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B190341-4343-416C-A68C-0E92F3B33DBC}"/>
              </a:ext>
            </a:extLst>
          </p:cNvPr>
          <p:cNvSpPr>
            <a:spLocks noGrp="1"/>
          </p:cNvSpPr>
          <p:nvPr/>
        </p:nvSpPr>
        <p:spPr>
          <a:xfrm>
            <a:off x="6172200" y="4705350"/>
            <a:ext cx="4286250" cy="12192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显存直觉</a:t>
            </a:r>
            <a:endParaRPr sz="1500" b="0" dirty="0">
              <a:solidFill>
                <a:srgbClr val="0F172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float32 = 4 bytes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float16 / bfloat16 = 2 bytes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70B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参数只存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bf16 </a:t>
            </a:r>
            <a:r>
              <a:rPr sz="1500" b="0" dirty="0" err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权重也约需</a:t>
            </a:r>
            <a:r>
              <a:rPr sz="1500" b="0" dirty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 140GB。</a:t>
            </a:r>
          </a:p>
        </p:txBody>
      </p:sp>
    </p:spTree>
    <p:extLst>
      <p:ext uri="{BB962C8B-B14F-4D97-AF65-F5344CB8AC3E}">
        <p14:creationId xmlns:p14="http://schemas.microsoft.com/office/powerpoint/2010/main" val="979258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E4E3C92-419F-4559-B7C0-E69ADEE71E58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2D3BAB-0D4B-4F4C-AC04-0E91CA3DE4E1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021727-F3EB-427B-B567-325A4CFC8949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04DE580-30F4-4C53-A475-770F7E428B2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四、FLOPs、带宽与训练成本分析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ED6C65-8865-478F-9369-EF53EFEDD445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模型训练成本由计算量、显存占用、内存带宽和硬件利用率共同决定。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5100" y="1733550"/>
            <a:ext cx="2283699" cy="2000250"/>
          </a:xfrm>
          <a:prstGeom prst="roundRect">
            <a:avLst>
              <a:gd name="adj" fmla="val 3810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EA183EBE-9637-444C-8F45-57F72155D114}"/>
              </a:ext>
            </a:extLst>
          </p:cNvPr>
          <p:cNvSpPr>
            <a:spLocks noGrp="1"/>
          </p:cNvSpPr>
          <p:nvPr/>
        </p:nvSpPr>
        <p:spPr>
          <a:xfrm>
            <a:off x="4171950" y="1752600"/>
            <a:ext cx="32004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FLOPs：实际做了多少浮点运算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FLOP/s：硬件每秒能做多少浮点运算</a:t>
            </a:r>
          </a:p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MFU：实际速度 / 理论峰值速度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9BE7869-8E24-4B19-A8BC-B18A5B7A624F}"/>
              </a:ext>
            </a:extLst>
          </p:cNvPr>
          <p:cNvSpPr>
            <a:spLocks noGrp="1"/>
          </p:cNvSpPr>
          <p:nvPr/>
        </p:nvSpPr>
        <p:spPr>
          <a:xfrm>
            <a:off x="7772400" y="1752600"/>
            <a:ext cx="3086100" cy="13335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Arithmetic Intensity</a:t>
            </a:r>
          </a:p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= FLOPs / bytes</a:t>
            </a:r>
          </a:p>
          <a:p>
            <a:endParaRPr sz="1350" b="0">
              <a:solidFill>
                <a:srgbClr val="0F172A"/>
              </a:solidFill>
              <a:latin typeface="Consolas"/>
              <a:ea typeface="Consolas"/>
              <a:cs typeface="Consolas"/>
            </a:endParaRPr>
          </a:p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它衡量每搬 1 byte 数据，能做多少计算。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2CEB0DC-4400-4476-A404-DFB246624169}"/>
              </a:ext>
            </a:extLst>
          </p:cNvPr>
          <p:cNvSpPr>
            <a:spLocks noGrp="1"/>
          </p:cNvSpPr>
          <p:nvPr/>
        </p:nvSpPr>
        <p:spPr>
          <a:xfrm>
            <a:off x="4171950" y="3486150"/>
            <a:ext cx="3200400" cy="110490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Memory-bound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算得很少、搬数据很多，速度主要受内存带宽限制。例：单独 ReLU 通常就是 memory-bound。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865E923-13E2-404E-BEB1-7429DA11C99C}"/>
              </a:ext>
            </a:extLst>
          </p:cNvPr>
          <p:cNvSpPr>
            <a:spLocks noGrp="1"/>
          </p:cNvSpPr>
          <p:nvPr/>
        </p:nvSpPr>
        <p:spPr>
          <a:xfrm>
            <a:off x="7772400" y="3486150"/>
            <a:ext cx="3086100" cy="1104900"/>
          </a:xfrm>
          <a:prstGeom prst="roundRect">
            <a:avLst>
              <a:gd name="adj" fmla="val 689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Compute-bound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算术强度足够高，速度才可能接近 GPU 的计算峰值。大矩阵乘法更容易进入这个区域。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9E9F03B-6F3C-480B-AB9D-B36D18D1AE92}"/>
              </a:ext>
            </a:extLst>
          </p:cNvPr>
          <p:cNvSpPr>
            <a:spLocks noGrp="1"/>
          </p:cNvSpPr>
          <p:nvPr/>
        </p:nvSpPr>
        <p:spPr>
          <a:xfrm>
            <a:off x="742950" y="5067300"/>
            <a:ext cx="10115550" cy="647700"/>
          </a:xfrm>
          <a:prstGeom prst="roundRect">
            <a:avLst>
              <a:gd name="adj" fmla="val 11765"/>
            </a:avLst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 lIns="152400" tIns="123825" rIns="152400" bIns="95250"/>
          <a:lstStyle/>
          <a:p>
            <a:pPr algn="ctr"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关键收获：以后看到训练成本，不能只问“用了几张 GPU”，还要问 batch、dtype、FLOPs、显存、带宽和 MFU。</a:t>
            </a:r>
          </a:p>
        </p:txBody>
      </p:sp>
    </p:spTree>
    <p:extLst>
      <p:ext uri="{BB962C8B-B14F-4D97-AF65-F5344CB8AC3E}">
        <p14:creationId xmlns:p14="http://schemas.microsoft.com/office/powerpoint/2010/main" val="486383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5C19AE3-98EE-42EB-BBDC-E15388352F30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B870BDD-D2A7-4B20-A293-FF5A98651994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28D69F7-A174-4E7A-ACE0-B91FB2204BC6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E5E8BC-9EB7-4A01-B0E7-4DF13C08D6E6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五、损失函数、梯度与参数更新机制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EFE0AA-7DD5-495B-9407-06EF92430F7A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训练过程由 forward、loss 计算、backward、optimizer step 和 gradient reset 共同构成。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250838"/>
            <a:ext cx="4857750" cy="946623"/>
          </a:xfrm>
          <a:prstGeom prst="roundRect">
            <a:avLst>
              <a:gd name="adj" fmla="val 3571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B76148F0-638D-46C5-A6CA-D0A533DF4D8A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4857750" cy="161925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17A1C2D-1817-454B-8141-37A24E9B152D}"/>
              </a:ext>
            </a:extLst>
          </p:cNvPr>
          <p:cNvSpPr>
            <a:spLocks noGrp="1"/>
          </p:cNvSpPr>
          <p:nvPr/>
        </p:nvSpPr>
        <p:spPr>
          <a:xfrm>
            <a:off x="933450" y="4286250"/>
            <a:ext cx="436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pred_y = model(x)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C36FA0E-59EE-4E8B-A493-2C14C0B799B1}"/>
              </a:ext>
            </a:extLst>
          </p:cNvPr>
          <p:cNvSpPr>
            <a:spLocks noGrp="1"/>
          </p:cNvSpPr>
          <p:nvPr/>
        </p:nvSpPr>
        <p:spPr>
          <a:xfrm>
            <a:off x="933450" y="4543425"/>
            <a:ext cx="436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loss = mse(pred_y, y)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5CDAD6-D290-4B4D-BB94-7A7A85B5313D}"/>
              </a:ext>
            </a:extLst>
          </p:cNvPr>
          <p:cNvSpPr>
            <a:spLocks noGrp="1"/>
          </p:cNvSpPr>
          <p:nvPr/>
        </p:nvSpPr>
        <p:spPr>
          <a:xfrm>
            <a:off x="933450" y="4800600"/>
            <a:ext cx="436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914E7B-0B8D-4A06-9CB6-6F25F75FBB2C}"/>
              </a:ext>
            </a:extLst>
          </p:cNvPr>
          <p:cNvSpPr>
            <a:spLocks noGrp="1"/>
          </p:cNvSpPr>
          <p:nvPr/>
        </p:nvSpPr>
        <p:spPr>
          <a:xfrm>
            <a:off x="933450" y="4953000"/>
            <a:ext cx="436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loss.backward()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EB60CB-F5D4-4A8F-94E5-24062F7329BE}"/>
              </a:ext>
            </a:extLst>
          </p:cNvPr>
          <p:cNvSpPr>
            <a:spLocks noGrp="1"/>
          </p:cNvSpPr>
          <p:nvPr/>
        </p:nvSpPr>
        <p:spPr>
          <a:xfrm>
            <a:off x="933450" y="5210175"/>
            <a:ext cx="436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optimizer.step()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9037B7F-9088-47DC-8E45-2013324FC982}"/>
              </a:ext>
            </a:extLst>
          </p:cNvPr>
          <p:cNvSpPr>
            <a:spLocks noGrp="1"/>
          </p:cNvSpPr>
          <p:nvPr/>
        </p:nvSpPr>
        <p:spPr>
          <a:xfrm>
            <a:off x="933450" y="5467350"/>
            <a:ext cx="43624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0F172A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F172A"/>
                </a:solidFill>
                <a:latin typeface="Consolas"/>
                <a:ea typeface="Consolas"/>
                <a:cs typeface="Consolas"/>
              </a:rPr>
              <a:t>optimizer.zero_grad()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C3C356E-ADBA-40E5-938F-ECC66B20044C}"/>
              </a:ext>
            </a:extLst>
          </p:cNvPr>
          <p:cNvSpPr>
            <a:spLocks noGrp="1"/>
          </p:cNvSpPr>
          <p:nvPr/>
        </p:nvSpPr>
        <p:spPr>
          <a:xfrm>
            <a:off x="6153150" y="1695450"/>
            <a:ext cx="142875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Forward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11347FF-D8FF-417D-93BA-4A63F243B735}"/>
              </a:ext>
            </a:extLst>
          </p:cNvPr>
          <p:cNvSpPr>
            <a:spLocks noGrp="1"/>
          </p:cNvSpPr>
          <p:nvPr/>
        </p:nvSpPr>
        <p:spPr>
          <a:xfrm>
            <a:off x="7848600" y="17716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用当前参数算预测和 loss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5561DBC-9888-4275-BBD2-A4AB736E1638}"/>
              </a:ext>
            </a:extLst>
          </p:cNvPr>
          <p:cNvSpPr>
            <a:spLocks noGrp="1"/>
          </p:cNvSpPr>
          <p:nvPr/>
        </p:nvSpPr>
        <p:spPr>
          <a:xfrm>
            <a:off x="6705600" y="21526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0899634-EA54-4DC5-916E-4DFF52DA2901}"/>
              </a:ext>
            </a:extLst>
          </p:cNvPr>
          <p:cNvSpPr>
            <a:spLocks noGrp="1"/>
          </p:cNvSpPr>
          <p:nvPr/>
        </p:nvSpPr>
        <p:spPr>
          <a:xfrm>
            <a:off x="6153150" y="2571750"/>
            <a:ext cx="1428750" cy="438150"/>
          </a:xfrm>
          <a:prstGeom prst="roundRect">
            <a:avLst>
              <a:gd name="adj" fmla="val 17391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0130A6-C208-40CF-AE58-F7D471C11B78}"/>
              </a:ext>
            </a:extLst>
          </p:cNvPr>
          <p:cNvSpPr>
            <a:spLocks noGrp="1"/>
          </p:cNvSpPr>
          <p:nvPr/>
        </p:nvSpPr>
        <p:spPr>
          <a:xfrm>
            <a:off x="7848600" y="26479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沿计算图求梯度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022913B-2B24-4FCB-9ACA-E222E9779AB8}"/>
              </a:ext>
            </a:extLst>
          </p:cNvPr>
          <p:cNvSpPr>
            <a:spLocks noGrp="1"/>
          </p:cNvSpPr>
          <p:nvPr/>
        </p:nvSpPr>
        <p:spPr>
          <a:xfrm>
            <a:off x="6705600" y="30289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B1D5AE5-5981-4C7A-B6CC-D582FDED442B}"/>
              </a:ext>
            </a:extLst>
          </p:cNvPr>
          <p:cNvSpPr>
            <a:spLocks noGrp="1"/>
          </p:cNvSpPr>
          <p:nvPr/>
        </p:nvSpPr>
        <p:spPr>
          <a:xfrm>
            <a:off x="6153150" y="3448050"/>
            <a:ext cx="142875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F50675-D4FC-4642-B283-83D077D7E372}"/>
              </a:ext>
            </a:extLst>
          </p:cNvPr>
          <p:cNvSpPr>
            <a:spLocks noGrp="1"/>
          </p:cNvSpPr>
          <p:nvPr/>
        </p:nvSpPr>
        <p:spPr>
          <a:xfrm>
            <a:off x="7848600" y="35242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根据梯度更新参数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C08E9DC-4561-4385-85DC-686A910CFA1E}"/>
              </a:ext>
            </a:extLst>
          </p:cNvPr>
          <p:cNvSpPr>
            <a:spLocks noGrp="1"/>
          </p:cNvSpPr>
          <p:nvPr/>
        </p:nvSpPr>
        <p:spPr>
          <a:xfrm>
            <a:off x="6705600" y="3905250"/>
            <a:ext cx="323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05366F6-B065-468E-962B-3F68567B2F50}"/>
              </a:ext>
            </a:extLst>
          </p:cNvPr>
          <p:cNvSpPr>
            <a:spLocks noGrp="1"/>
          </p:cNvSpPr>
          <p:nvPr/>
        </p:nvSpPr>
        <p:spPr>
          <a:xfrm>
            <a:off x="6153150" y="4324350"/>
            <a:ext cx="142875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Zero grad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D59E7F-4BE4-4FD1-BCF9-0795D304E10C}"/>
              </a:ext>
            </a:extLst>
          </p:cNvPr>
          <p:cNvSpPr>
            <a:spLocks noGrp="1"/>
          </p:cNvSpPr>
          <p:nvPr/>
        </p:nvSpPr>
        <p:spPr>
          <a:xfrm>
            <a:off x="7848600" y="44005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清空梯度，开始下一步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66FD756-E063-4AF9-865D-94E708C323E6}"/>
              </a:ext>
            </a:extLst>
          </p:cNvPr>
          <p:cNvSpPr>
            <a:spLocks noGrp="1"/>
          </p:cNvSpPr>
          <p:nvPr/>
        </p:nvSpPr>
        <p:spPr>
          <a:xfrm>
            <a:off x="6153150" y="5391150"/>
            <a:ext cx="4838700" cy="590550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机制理解：参数梯度用于更新权重；中间激活梯度用于链式传播，使梯度能够继续传回前序参数。</a:t>
            </a:r>
          </a:p>
        </p:txBody>
      </p:sp>
    </p:spTree>
    <p:extLst>
      <p:ext uri="{BB962C8B-B14F-4D97-AF65-F5344CB8AC3E}">
        <p14:creationId xmlns:p14="http://schemas.microsoft.com/office/powerpoint/2010/main" val="1638271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6BBEE48-10CB-47FC-8B09-0C8B529F8BCA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B76AB8-6264-44CD-8A6C-508A869D58D7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1318F5-4243-487D-9EC7-869FD4E64035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ADEA8-9B49-42BD-A88B-8093EC8B17ED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六、Transformer Block 的模块化结构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FE0CD1-F844-4772-AA43-9143B5CD5AF7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现代语言模型的基本计算单元可拆解为 attention、MLP、residual connection 和 normalization。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8906" y="1619250"/>
            <a:ext cx="3953387" cy="3429000"/>
          </a:xfrm>
          <a:prstGeom prst="roundRect">
            <a:avLst>
              <a:gd name="adj" fmla="val 2222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DD64F16-2F57-44AE-961D-0655CD3CE8A3}"/>
              </a:ext>
            </a:extLst>
          </p:cNvPr>
          <p:cNvSpPr>
            <a:spLocks noGrp="1"/>
          </p:cNvSpPr>
          <p:nvPr/>
        </p:nvSpPr>
        <p:spPr>
          <a:xfrm>
            <a:off x="5619750" y="1809750"/>
            <a:ext cx="2343150" cy="1104900"/>
          </a:xfrm>
          <a:prstGeom prst="roundRect">
            <a:avLst>
              <a:gd name="adj" fmla="val 6897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Self-Attention</a:t>
            </a:r>
          </a:p>
          <a:p>
            <a:pPr>
              <a:def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让每个 token 根据上下文选择应该关注的信息。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CB41C13-34FB-4A07-830A-7B47D7E9AC39}"/>
              </a:ext>
            </a:extLst>
          </p:cNvPr>
          <p:cNvSpPr>
            <a:spLocks noGrp="1"/>
          </p:cNvSpPr>
          <p:nvPr/>
        </p:nvSpPr>
        <p:spPr>
          <a:xfrm>
            <a:off x="8362950" y="1809750"/>
            <a:ext cx="2343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MLP / FFN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对每个 token 做非线性变换，增加模型容量。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0A22EF1-EDE3-4BA8-BB2F-068814BFFDC5}"/>
              </a:ext>
            </a:extLst>
          </p:cNvPr>
          <p:cNvSpPr>
            <a:spLocks noGrp="1"/>
          </p:cNvSpPr>
          <p:nvPr/>
        </p:nvSpPr>
        <p:spPr>
          <a:xfrm>
            <a:off x="5619750" y="3276600"/>
            <a:ext cx="2343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Residual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把输入直接加回输出，帮助深层网络训练。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FD4A983-C260-4D0D-B6F0-B0E437C7CC41}"/>
              </a:ext>
            </a:extLst>
          </p:cNvPr>
          <p:cNvSpPr>
            <a:spLocks noGrp="1"/>
          </p:cNvSpPr>
          <p:nvPr/>
        </p:nvSpPr>
        <p:spPr>
          <a:xfrm>
            <a:off x="8362950" y="3276600"/>
            <a:ext cx="2343150" cy="110490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Norm</a:t>
            </a:r>
          </a:p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稳定激活尺度，减少训练不稳定。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B9F3690-E42A-47B0-9503-971848BFD872}"/>
              </a:ext>
            </a:extLst>
          </p:cNvPr>
          <p:cNvSpPr>
            <a:spLocks noGrp="1"/>
          </p:cNvSpPr>
          <p:nvPr/>
        </p:nvSpPr>
        <p:spPr>
          <a:xfrm>
            <a:off x="5619750" y="4953000"/>
            <a:ext cx="5086350" cy="68580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关键结论：Transformer block 可以被拆解为若干可实现、可测试的子模块，是后续代码实现的核心对象。</a:t>
            </a:r>
          </a:p>
        </p:txBody>
      </p:sp>
    </p:spTree>
    <p:extLst>
      <p:ext uri="{BB962C8B-B14F-4D97-AF65-F5344CB8AC3E}">
        <p14:creationId xmlns:p14="http://schemas.microsoft.com/office/powerpoint/2010/main" val="1831544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77CF995-7AE0-4E56-9520-AA2501059A7B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FD9306-2A8A-4E94-992A-CECF4017F941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B0610C-5D44-4CF3-B1C5-201B7CE5DFC7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BD255B-6ABC-4B2B-89D7-B3287B8C2C42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七、现代 LLM 架构的主要变体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A2CD63-3B37-41D3-B245-C8011C01B0A9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不同语言模型通常在激活函数、位置编码、attention 形式和结构超参数上采用不同设计。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0840" y="1619250"/>
            <a:ext cx="4734320" cy="2667000"/>
          </a:xfrm>
          <a:prstGeom prst="roundRect">
            <a:avLst>
              <a:gd name="adj" fmla="val 2857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BDDAC7-3FC2-42EE-AB89-3EE7DE3A2753}"/>
              </a:ext>
            </a:extLst>
          </p:cNvPr>
          <p:cNvSpPr>
            <a:spLocks noGrp="1"/>
          </p:cNvSpPr>
          <p:nvPr/>
        </p:nvSpPr>
        <p:spPr>
          <a:xfrm>
            <a:off x="6000750" y="16192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Activation / FFN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A1B365-6DD7-42DA-B348-E59B3CE07A89}"/>
              </a:ext>
            </a:extLst>
          </p:cNvPr>
          <p:cNvSpPr>
            <a:spLocks noGrp="1"/>
          </p:cNvSpPr>
          <p:nvPr/>
        </p:nvSpPr>
        <p:spPr>
          <a:xfrm>
            <a:off x="8382000" y="17049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ReLU、GELU、SwiGLU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60A55A7-E4A1-40B1-9516-39E868CC3E73}"/>
              </a:ext>
            </a:extLst>
          </p:cNvPr>
          <p:cNvSpPr>
            <a:spLocks noGrp="1"/>
          </p:cNvSpPr>
          <p:nvPr/>
        </p:nvSpPr>
        <p:spPr>
          <a:xfrm>
            <a:off x="6000750" y="23050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Position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568353-73E7-41BE-946E-C95ABBF14EEE}"/>
              </a:ext>
            </a:extLst>
          </p:cNvPr>
          <p:cNvSpPr>
            <a:spLocks noGrp="1"/>
          </p:cNvSpPr>
          <p:nvPr/>
        </p:nvSpPr>
        <p:spPr>
          <a:xfrm>
            <a:off x="8382000" y="23907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Sinusoidal、RoPE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B1135F3-95FC-4D33-9057-C63D03BAA1F6}"/>
              </a:ext>
            </a:extLst>
          </p:cNvPr>
          <p:cNvSpPr>
            <a:spLocks noGrp="1"/>
          </p:cNvSpPr>
          <p:nvPr/>
        </p:nvSpPr>
        <p:spPr>
          <a:xfrm>
            <a:off x="6000750" y="29908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Normalization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A7A3A5-CCB9-4B17-81B1-360A00D03449}"/>
              </a:ext>
            </a:extLst>
          </p:cNvPr>
          <p:cNvSpPr>
            <a:spLocks noGrp="1"/>
          </p:cNvSpPr>
          <p:nvPr/>
        </p:nvSpPr>
        <p:spPr>
          <a:xfrm>
            <a:off x="8382000" y="30765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LayerNorm、RMSNorm、pre-norm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593B138-C8E4-4D5F-A2D7-A18C7385F506}"/>
              </a:ext>
            </a:extLst>
          </p:cNvPr>
          <p:cNvSpPr>
            <a:spLocks noGrp="1"/>
          </p:cNvSpPr>
          <p:nvPr/>
        </p:nvSpPr>
        <p:spPr>
          <a:xfrm>
            <a:off x="6000750" y="36766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89E2FC0-73FD-4540-93D7-5B8D788A6E01}"/>
              </a:ext>
            </a:extLst>
          </p:cNvPr>
          <p:cNvSpPr>
            <a:spLocks noGrp="1"/>
          </p:cNvSpPr>
          <p:nvPr/>
        </p:nvSpPr>
        <p:spPr>
          <a:xfrm>
            <a:off x="8382000" y="37623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MHA、MQA、GQA、MLA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2766D83-8E18-49EE-9692-6E4DF893E083}"/>
              </a:ext>
            </a:extLst>
          </p:cNvPr>
          <p:cNvSpPr>
            <a:spLocks noGrp="1"/>
          </p:cNvSpPr>
          <p:nvPr/>
        </p:nvSpPr>
        <p:spPr>
          <a:xfrm>
            <a:off x="6000750" y="4362450"/>
            <a:ext cx="2095500" cy="41910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Shape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00C7FB-8AA3-48F0-9519-4C5EE5A6AD6C}"/>
              </a:ext>
            </a:extLst>
          </p:cNvPr>
          <p:cNvSpPr>
            <a:spLocks noGrp="1"/>
          </p:cNvSpPr>
          <p:nvPr/>
        </p:nvSpPr>
        <p:spPr>
          <a:xfrm>
            <a:off x="8382000" y="444817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hidden dim、depth、heads、FFN dim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297ED11-7EB4-4925-ACF4-B1BD68683755}"/>
              </a:ext>
            </a:extLst>
          </p:cNvPr>
          <p:cNvSpPr>
            <a:spLocks noGrp="1"/>
          </p:cNvSpPr>
          <p:nvPr/>
        </p:nvSpPr>
        <p:spPr>
          <a:xfrm>
            <a:off x="666750" y="4762500"/>
            <a:ext cx="4762500" cy="83820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9525">
            <a:solidFill>
              <a:srgbClr val="BBF7D0"/>
            </a:solidFill>
            <a:prstDash val="solid"/>
          </a:ln>
        </p:spPr>
        <p:txBody>
          <a:bodyPr lIns="152400" tIns="123825" rIns="152400" bIns="95250"/>
          <a:lstStyle/>
          <a:p>
            <a:pPr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关键收获：以后读模型报告或配置文件时，我会重点看 block 结构、attention 变体、位置编码和模型 shape，而不是只看参数量。</a:t>
            </a:r>
          </a:p>
        </p:txBody>
      </p:sp>
    </p:spTree>
    <p:extLst>
      <p:ext uri="{BB962C8B-B14F-4D97-AF65-F5344CB8AC3E}">
        <p14:creationId xmlns:p14="http://schemas.microsoft.com/office/powerpoint/2010/main" val="507080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C4C01CC8-C9E0-4D53-9DA8-71F7652C519C}"/>
              </a:ext>
            </a:extLst>
          </p:cNvPr>
          <p:cNvSpPr>
            <a:spLocks noGrp="1"/>
          </p:cNvSpPr>
          <p:nvPr/>
        </p:nvSpPr>
        <p:spPr>
          <a:xfrm>
            <a:off x="533400" y="2476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第一周主要学习内容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9823C3-C2E8-4D2A-91D4-CDCA72970E01}"/>
              </a:ext>
            </a:extLst>
          </p:cNvPr>
          <p:cNvSpPr>
            <a:spLocks noGrp="1"/>
          </p:cNvSpPr>
          <p:nvPr/>
        </p:nvSpPr>
        <p:spPr>
          <a:xfrm>
            <a:off x="11315700" y="228600"/>
            <a:ext cx="342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r">
              <a:def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C76680-FCAC-4B5A-A090-FE1EE957EE8A}"/>
              </a:ext>
            </a:extLst>
          </p:cNvPr>
          <p:cNvSpPr>
            <a:spLocks noGrp="1"/>
          </p:cNvSpPr>
          <p:nvPr/>
        </p:nvSpPr>
        <p:spPr>
          <a:xfrm>
            <a:off x="533400" y="533400"/>
            <a:ext cx="11125200" cy="9525"/>
          </a:xfrm>
          <a:prstGeom prst="rect">
            <a:avLst/>
          </a:prstGeom>
          <a:solidFill>
            <a:srgbClr val="E2E8F0"/>
          </a:solidFill>
          <a:ln w="0">
            <a:solidFill>
              <a:srgbClr val="E2E8F0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EAEA8C-B145-4821-8CC7-6F5244C38B03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9048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后续工作：Assignment 1 实现路径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2733CE-4C9A-4983-A09C-5670FF40F841}"/>
              </a:ext>
            </a:extLst>
          </p:cNvPr>
          <p:cNvSpPr>
            <a:spLocks noGrp="1"/>
          </p:cNvSpPr>
          <p:nvPr/>
        </p:nvSpPr>
        <p:spPr>
          <a:xfrm>
            <a:off x="571500" y="120015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下一阶段将围绕 tokenizer、基础算子、Transformer 模块和训练实验展开代码实现。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F23F7E2-25E1-4FF9-BF3D-CD157D5C8733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207645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F008EAA-4466-481E-BAE7-4EE7D92FFE6E}"/>
              </a:ext>
            </a:extLst>
          </p:cNvPr>
          <p:cNvSpPr>
            <a:spLocks noGrp="1"/>
          </p:cNvSpPr>
          <p:nvPr/>
        </p:nvSpPr>
        <p:spPr>
          <a:xfrm>
            <a:off x="1028700" y="2247900"/>
            <a:ext cx="4000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C0233-F31E-4AC3-BC28-1AF7E0EF5207}"/>
              </a:ext>
            </a:extLst>
          </p:cNvPr>
          <p:cNvSpPr>
            <a:spLocks noGrp="1"/>
          </p:cNvSpPr>
          <p:nvPr/>
        </p:nvSpPr>
        <p:spPr>
          <a:xfrm>
            <a:off x="1047750" y="2819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Tokenizer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7D99B4-C975-48B3-B88A-ED33EE9DD402}"/>
              </a:ext>
            </a:extLst>
          </p:cNvPr>
          <p:cNvSpPr>
            <a:spLocks noGrp="1"/>
          </p:cNvSpPr>
          <p:nvPr/>
        </p:nvSpPr>
        <p:spPr>
          <a:xfrm>
            <a:off x="1047750" y="32956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实现 BPE 的 encode / decode / merge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73D70C-B55D-4627-98B4-262B95ED086D}"/>
              </a:ext>
            </a:extLst>
          </p:cNvPr>
          <p:cNvSpPr>
            <a:spLocks noGrp="1"/>
          </p:cNvSpPr>
          <p:nvPr/>
        </p:nvSpPr>
        <p:spPr>
          <a:xfrm>
            <a:off x="2952750" y="29337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00D5DD6-31CA-4427-A075-5C3103DADEE7}"/>
              </a:ext>
            </a:extLst>
          </p:cNvPr>
          <p:cNvSpPr>
            <a:spLocks noGrp="1"/>
          </p:cNvSpPr>
          <p:nvPr/>
        </p:nvSpPr>
        <p:spPr>
          <a:xfrm>
            <a:off x="3486150" y="2000250"/>
            <a:ext cx="207645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4A94B1A-0C5C-4E1C-B53E-20C80FAA7F2A}"/>
              </a:ext>
            </a:extLst>
          </p:cNvPr>
          <p:cNvSpPr>
            <a:spLocks noGrp="1"/>
          </p:cNvSpPr>
          <p:nvPr/>
        </p:nvSpPr>
        <p:spPr>
          <a:xfrm>
            <a:off x="3695700" y="2247900"/>
            <a:ext cx="4000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03D1C9-4698-441F-A921-629997B69142}"/>
              </a:ext>
            </a:extLst>
          </p:cNvPr>
          <p:cNvSpPr>
            <a:spLocks noGrp="1"/>
          </p:cNvSpPr>
          <p:nvPr/>
        </p:nvSpPr>
        <p:spPr>
          <a:xfrm>
            <a:off x="3714750" y="2819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基础模块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539EA8-F697-4CF0-BAFC-4DB79282A7D5}"/>
              </a:ext>
            </a:extLst>
          </p:cNvPr>
          <p:cNvSpPr>
            <a:spLocks noGrp="1"/>
          </p:cNvSpPr>
          <p:nvPr/>
        </p:nvSpPr>
        <p:spPr>
          <a:xfrm>
            <a:off x="3714750" y="32956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Linear、Embedding、Loss、Optimizer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70715F-2C6E-42FB-8FD1-EEC5404D8BAA}"/>
              </a:ext>
            </a:extLst>
          </p:cNvPr>
          <p:cNvSpPr>
            <a:spLocks noGrp="1"/>
          </p:cNvSpPr>
          <p:nvPr/>
        </p:nvSpPr>
        <p:spPr>
          <a:xfrm>
            <a:off x="5619750" y="29337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5754663-CB8D-4959-A250-212D86CA5EFD}"/>
              </a:ext>
            </a:extLst>
          </p:cNvPr>
          <p:cNvSpPr>
            <a:spLocks noGrp="1"/>
          </p:cNvSpPr>
          <p:nvPr/>
        </p:nvSpPr>
        <p:spPr>
          <a:xfrm>
            <a:off x="6153150" y="2000250"/>
            <a:ext cx="207645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40AA3B4-8FEB-4FB9-BA13-73A174E5AC09}"/>
              </a:ext>
            </a:extLst>
          </p:cNvPr>
          <p:cNvSpPr>
            <a:spLocks noGrp="1"/>
          </p:cNvSpPr>
          <p:nvPr/>
        </p:nvSpPr>
        <p:spPr>
          <a:xfrm>
            <a:off x="6362700" y="2247900"/>
            <a:ext cx="40005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 w="9525">
            <a:solidFill>
              <a:srgbClr val="EFF6FF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2D9FACA-DEA0-4C5F-A5D1-B114D0F598C4}"/>
              </a:ext>
            </a:extLst>
          </p:cNvPr>
          <p:cNvSpPr>
            <a:spLocks noGrp="1"/>
          </p:cNvSpPr>
          <p:nvPr/>
        </p:nvSpPr>
        <p:spPr>
          <a:xfrm>
            <a:off x="6381750" y="2819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Transformer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D1E23C5-DC17-4F0B-A32A-4C49D0B76929}"/>
              </a:ext>
            </a:extLst>
          </p:cNvPr>
          <p:cNvSpPr>
            <a:spLocks noGrp="1"/>
          </p:cNvSpPr>
          <p:nvPr/>
        </p:nvSpPr>
        <p:spPr>
          <a:xfrm>
            <a:off x="6381750" y="32956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Attention、RoPE、FFN、Norm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B411CD2-A358-4258-851F-DA8F2D9A9257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 algn="ctr">
              <a:def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726C783-DA21-43C4-AFA0-E202109F80B7}"/>
              </a:ext>
            </a:extLst>
          </p:cNvPr>
          <p:cNvSpPr>
            <a:spLocks noGrp="1"/>
          </p:cNvSpPr>
          <p:nvPr/>
        </p:nvSpPr>
        <p:spPr>
          <a:xfrm>
            <a:off x="8820150" y="2000250"/>
            <a:ext cx="207645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DE79D60-D5C5-42A8-8DEE-53E718298577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400050" cy="361950"/>
          </a:xfrm>
          <a:prstGeom prst="roundRect">
            <a:avLst>
              <a:gd name="adj" fmla="val 21053"/>
            </a:avLst>
          </a:prstGeom>
          <a:solidFill>
            <a:srgbClr val="FFF7ED"/>
          </a:solidFill>
          <a:ln w="9525">
            <a:solidFill>
              <a:srgbClr val="FFF7ED"/>
            </a:solidFill>
            <a:prstDash val="solid"/>
          </a:ln>
        </p:spPr>
        <p:txBody>
          <a:bodyPr lIns="57150" tIns="76200" rIns="57150" bIns="38100"/>
          <a:lstStyle/>
          <a:p>
            <a:pPr algn="ctr">
              <a:def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33A42D0-B306-4F85-A546-80C729F5E029}"/>
              </a:ext>
            </a:extLst>
          </p:cNvPr>
          <p:cNvSpPr>
            <a:spLocks noGrp="1"/>
          </p:cNvSpPr>
          <p:nvPr/>
        </p:nvSpPr>
        <p:spPr>
          <a:xfrm>
            <a:off x="9048750" y="2819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训练实验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0B3973F-08CA-4CA1-9A92-54C74E6B9322}"/>
              </a:ext>
            </a:extLst>
          </p:cNvPr>
          <p:cNvSpPr>
            <a:spLocks noGrp="1"/>
          </p:cNvSpPr>
          <p:nvPr/>
        </p:nvSpPr>
        <p:spPr>
          <a:xfrm>
            <a:off x="9048750" y="3295650"/>
            <a:ext cx="1581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跑测试，训练 tiny LM，记录结果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D47D1BC-E1B2-422E-8CF3-22481463B569}"/>
              </a:ext>
            </a:extLst>
          </p:cNvPr>
          <p:cNvSpPr>
            <a:spLocks noGrp="1"/>
          </p:cNvSpPr>
          <p:nvPr/>
        </p:nvSpPr>
        <p:spPr>
          <a:xfrm>
            <a:off x="819150" y="4762500"/>
            <a:ext cx="10001250" cy="704850"/>
          </a:xfrm>
          <a:prstGeom prst="roundRect">
            <a:avLst>
              <a:gd name="adj" fmla="val 10811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  <p:txBody>
          <a:bodyPr lIns="152400" tIns="123825" rIns="152400" bIns="95250"/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资料来源：Stanford CS336: Language Modeling from Scratch；官方 lecture 仓库；Assignment 1 basics；我的 GitHub 学习仓库。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FBE422B-5EDD-4E3F-8594-E8D72CDF9020}"/>
              </a:ext>
            </a:extLst>
          </p:cNvPr>
          <p:cNvSpPr>
            <a:spLocks noGrp="1"/>
          </p:cNvSpPr>
          <p:nvPr/>
        </p:nvSpPr>
        <p:spPr>
          <a:xfrm>
            <a:off x="819150" y="58293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19050" tIns="19050" rIns="19050" bIns="19050"/>
          <a:lstStyle/>
          <a:p>
            <a:pPr>
              <a:def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阶段总结：已完成语言模型输入表示、计算成本、优化过程与架构模块的基础梳理。</a:t>
            </a:r>
          </a:p>
        </p:txBody>
      </p:sp>
    </p:spTree>
    <p:extLst>
      <p:ext uri="{BB962C8B-B14F-4D97-AF65-F5344CB8AC3E}">
        <p14:creationId xmlns:p14="http://schemas.microsoft.com/office/powerpoint/2010/main" val="2821969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695</Words>
  <Application>Microsoft Office PowerPoint</Application>
  <DocSecurity>0</DocSecurity>
  <PresentationFormat>宽屏</PresentationFormat>
  <Paragraphs>176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Mo Zee</cp:lastModifiedBy>
  <cp:revision>2</cp:revision>
  <dcterms:created xsi:type="dcterms:W3CDTF">2026-07-06T02:20:09Z</dcterms:created>
  <dcterms:modified xsi:type="dcterms:W3CDTF">2026-07-06T07:45:06Z</dcterms:modified>
</cp:coreProperties>
</file>