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98" d="100"/>
          <a:sy n="98" d="100"/>
        </p:scale>
        <p:origin x="132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我从任务书中主要学到三点。第一，HBF和DDR不是传统前后级：权重与bulk KV由NPU直接从HBF读取，DDR周转new KV和tail KV，SRAM承担片上计算。第二，单层依次经过QKV投影、allgather、Flash Attention、O投影、allreduce、FFN、scatter-reduce和KV写回，阶段结束时间取决于计算、访存和通信中最慢的一项。第三，Attention采用TP，MoE可用top-k并行减少all-to-all。P表示传输字节数，C表示计算操作数。任务书的定性判断是prefill更偏计算受限、decode更偏带宽受限，所以decode还要关注HBF利用率和端到端延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错误</a:t>
            </a:r>
            <a:r>
              <a:rPr lang="en-US" dirty="0" err="1"/>
              <a:t>:</a:t>
            </a:r>
            <a:r>
              <a:rPr dirty="0" err="1"/>
              <a:t>scatter-reduce写成C</a:t>
            </a:r>
            <a:r>
              <a:rPr dirty="0"/>
              <a:t>(</a:t>
            </a:r>
            <a:r>
              <a:rPr dirty="0" err="1"/>
              <a:t>ffn_out</a:t>
            </a:r>
            <a:r>
              <a:rPr dirty="0"/>
              <a:t>)</a:t>
            </a:r>
            <a:r>
              <a:rPr dirty="0" err="1"/>
              <a:t>除以PCIe带宽，但C是操作数、带宽是字节每秒，两者相除得不到时间；这里传输FFN输出，应使用P</a:t>
            </a:r>
            <a:r>
              <a:rPr dirty="0"/>
              <a:t>(</a:t>
            </a:r>
            <a:r>
              <a:rPr dirty="0" err="1"/>
              <a:t>ffn_out</a:t>
            </a:r>
            <a:r>
              <a:rPr dirty="0"/>
              <a:t>)。</a:t>
            </a:r>
            <a:r>
              <a:rPr dirty="0" err="1"/>
              <a:t>文字又要求new</a:t>
            </a:r>
            <a:r>
              <a:rPr dirty="0"/>
              <a:t> </a:t>
            </a:r>
            <a:r>
              <a:rPr dirty="0" err="1"/>
              <a:t>KV先写DDR，再与tail</a:t>
            </a:r>
            <a:r>
              <a:rPr dirty="0"/>
              <a:t> KV一起读取，而公式既没有写入完成依赖，也没有tail数据量。KV写HBF还漏了访问延迟，早期版本也有allreduce变量拼写不一致。第二类是原文缺失：AFD没有完整时序，tail KV长度未定义，250微秒没有说明如何进入总时长，top-k、vector、softmax、tiling和通信重叠也未建模。这些内容不能靠拟合或隐藏假设补上，因此原文结果不能直接当作精确仿真结果。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我把项目整理为任务书、输入模板、仿真器源码和汇报材料。硬件不再写死，而由用户在Excel中填写芯片数、算力与利用率，以及HBF、DDR和PCIe指标。模型固定为M12-24B，并按W8A8和KV int8展开QKV、Attention、O投影和FFN的数据量P与操作量C。时序沿用任务书的max关系，只做已确认的最小修正，再把单层结果串联为48层。程序输出MFU、HBF读写利用率、E2E延迟和逐层时序。目前公式单元测试均已通过，prefill和decode端到端流程也已跑通；这证明程序链路可运行，但不代表已经校准到真实硬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以，目前完成的是单场景、非AFD的基础端到端计算链路，包括输入检查、公式执行、48层衔接和结果文件输出。当前成果还不是经过真实硬件校准的性能预测器，而是一个公式可追踪、输入可验证、边界明确的基础仿真器。对于任务书没有给出的部分，我选择明确标出，而不是通过拟合或隐藏假设补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ver-kicker">
            <a:extLst>
              <a:ext uri="{FF2B5EF4-FFF2-40B4-BE49-F238E27FC236}">
                <a16:creationId xmlns:a16="http://schemas.microsoft.com/office/drawing/2014/main" id="{021C1156-9DCA-4B4F-BB64-47A12DE319B5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HBF / MFU TECHNICAL REVIEW</a:t>
            </a:r>
          </a:p>
        </p:txBody>
      </p:sp>
      <p:sp>
        <p:nvSpPr>
          <p:cNvPr id="2" name="cover-meta">
            <a:extLst>
              <a:ext uri="{FF2B5EF4-FFF2-40B4-BE49-F238E27FC236}">
                <a16:creationId xmlns:a16="http://schemas.microsoft.com/office/drawing/2014/main" id="{4C15281D-AFA7-4B7C-AD18-ADAD2391F2AD}"/>
              </a:ext>
            </a:extLst>
          </p:cNvPr>
          <p:cNvSpPr>
            <a:spLocks noGrp="1"/>
          </p:cNvSpPr>
          <p:nvPr/>
        </p:nvSpPr>
        <p:spPr>
          <a:xfrm>
            <a:off x="8382000" y="4000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贾镕旭  /  2026.07.15</a:t>
            </a:r>
          </a:p>
        </p:txBody>
      </p:sp>
      <p:sp>
        <p:nvSpPr>
          <p:cNvPr id="3" name="cover-accent">
            <a:extLst>
              <a:ext uri="{FF2B5EF4-FFF2-40B4-BE49-F238E27FC236}">
                <a16:creationId xmlns:a16="http://schemas.microsoft.com/office/drawing/2014/main" id="{4EA2CBA0-D5EB-45F9-B611-C15E01EF9EF4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76200" cy="2952750"/>
          </a:xfrm>
          <a:prstGeom prst="rect">
            <a:avLst/>
          </a:prstGeom>
          <a:solidFill>
            <a:srgbClr val="2F6BFF"/>
          </a:solidFill>
          <a:ln w="0">
            <a:noFill/>
            <a:prstDash val="solid"/>
          </a:ln>
        </p:spPr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67419B5C-D7D4-490A-A917-1CD82201FDF5}"/>
              </a:ext>
            </a:extLst>
          </p:cNvPr>
          <p:cNvSpPr>
            <a:spLocks noGrp="1"/>
          </p:cNvSpPr>
          <p:nvPr/>
        </p:nvSpPr>
        <p:spPr>
          <a:xfrm>
            <a:off x="914400" y="1676400"/>
            <a:ext cx="8858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HBF MFU任务书理解</a:t>
            </a:r>
          </a:p>
          <a:p>
            <a:pPr algn="l">
              <a:lnSpc>
                <a:spcPct val="92000"/>
              </a:lnSpc>
              <a:buNone/>
              <a:def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与仿真进展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B335C655-BCEA-4DD0-9B07-9E218DC5CBFE}"/>
              </a:ext>
            </a:extLst>
          </p:cNvPr>
          <p:cNvSpPr>
            <a:spLocks noGrp="1"/>
          </p:cNvSpPr>
          <p:nvPr/>
        </p:nvSpPr>
        <p:spPr>
          <a:xfrm>
            <a:off x="942975" y="4333875"/>
            <a:ext cx="657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计算流 · 公式审查 · 基础实现</a:t>
            </a:r>
          </a:p>
        </p:txBody>
      </p:sp>
      <p:sp>
        <p:nvSpPr>
          <p:cNvPr id="7" name="cover-p">
            <a:extLst>
              <a:ext uri="{FF2B5EF4-FFF2-40B4-BE49-F238E27FC236}">
                <a16:creationId xmlns:a16="http://schemas.microsoft.com/office/drawing/2014/main" id="{83AE6347-1780-41E8-B68C-961508178685}"/>
              </a:ext>
            </a:extLst>
          </p:cNvPr>
          <p:cNvSpPr>
            <a:spLocks noGrp="1"/>
          </p:cNvSpPr>
          <p:nvPr/>
        </p:nvSpPr>
        <p:spPr>
          <a:xfrm>
            <a:off x="9763125" y="4095750"/>
            <a:ext cx="1381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3150" b="1">
                <a:solidFill>
                  <a:srgbClr val="2F6BFF"/>
                </a:solidFill>
                <a:latin typeface="Consolas"/>
                <a:ea typeface="Consolas"/>
                <a:cs typeface="Consolas"/>
              </a:defRPr>
            </a:pPr>
            <a:r>
              <a:rPr sz="3150" b="1">
                <a:solidFill>
                  <a:srgbClr val="2F6BFF"/>
                </a:solidFill>
                <a:latin typeface="Consolas"/>
                <a:ea typeface="Consolas"/>
                <a:cs typeface="Consolas"/>
              </a:rPr>
              <a:t>P(.)</a:t>
            </a:r>
          </a:p>
        </p:txBody>
      </p:sp>
      <p:sp>
        <p:nvSpPr>
          <p:cNvPr id="8" name="cover-c">
            <a:extLst>
              <a:ext uri="{FF2B5EF4-FFF2-40B4-BE49-F238E27FC236}">
                <a16:creationId xmlns:a16="http://schemas.microsoft.com/office/drawing/2014/main" id="{0BF93FA0-8C66-4612-86D8-618468B99A8B}"/>
              </a:ext>
            </a:extLst>
          </p:cNvPr>
          <p:cNvSpPr>
            <a:spLocks noGrp="1"/>
          </p:cNvSpPr>
          <p:nvPr/>
        </p:nvSpPr>
        <p:spPr>
          <a:xfrm>
            <a:off x="9763125" y="4762500"/>
            <a:ext cx="1381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315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315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C(.)</a:t>
            </a:r>
          </a:p>
        </p:txBody>
      </p:sp>
      <p:sp>
        <p:nvSpPr>
          <p:cNvPr id="9" name="cover-max">
            <a:extLst>
              <a:ext uri="{FF2B5EF4-FFF2-40B4-BE49-F238E27FC236}">
                <a16:creationId xmlns:a16="http://schemas.microsoft.com/office/drawing/2014/main" id="{9D82010B-9DFD-4815-90FC-5970DA439417}"/>
              </a:ext>
            </a:extLst>
          </p:cNvPr>
          <p:cNvSpPr>
            <a:spLocks noGrp="1"/>
          </p:cNvSpPr>
          <p:nvPr/>
        </p:nvSpPr>
        <p:spPr>
          <a:xfrm>
            <a:off x="9429750" y="5429250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3150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31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max(.)</a:t>
            </a:r>
          </a:p>
        </p:txBody>
      </p:sp>
    </p:spTree>
    <p:extLst>
      <p:ext uri="{BB962C8B-B14F-4D97-AF65-F5344CB8AC3E}">
        <p14:creationId xmlns:p14="http://schemas.microsoft.com/office/powerpoint/2010/main" val="2120810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icker-2">
            <a:extLst>
              <a:ext uri="{FF2B5EF4-FFF2-40B4-BE49-F238E27FC236}">
                <a16:creationId xmlns:a16="http://schemas.microsoft.com/office/drawing/2014/main" id="{B9ACB35D-8AD3-46FA-BD19-D3A0158C94BF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ARCHITECTURE · 02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2DE11816-C843-488D-A925-7B0235B4B435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</a:t>
            </a:r>
            <a:r>
              <a:rPr lang="zh-CN" altLang="en-US" sz="36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看</a:t>
            </a:r>
            <a:r>
              <a:rPr sz="36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36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lide2-subtitle">
            <a:extLst>
              <a:ext uri="{FF2B5EF4-FFF2-40B4-BE49-F238E27FC236}">
                <a16:creationId xmlns:a16="http://schemas.microsoft.com/office/drawing/2014/main" id="{70981144-185A-41BD-ADE4-D987A7598D47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HBF直读权重与bulk KV；DDR负责new KV与tail KV周转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412135"/>
            <a:ext cx="11163300" cy="2662131"/>
          </a:xfrm>
          <a:prstGeom prst="rect">
            <a:avLst/>
          </a:prstGeom>
        </p:spPr>
      </p:pic>
      <p:sp>
        <p:nvSpPr>
          <p:cNvPr id="5" name="slide2-col-rule-1">
            <a:extLst>
              <a:ext uri="{FF2B5EF4-FFF2-40B4-BE49-F238E27FC236}">
                <a16:creationId xmlns:a16="http://schemas.microsoft.com/office/drawing/2014/main" id="{3708BDB6-190C-4927-BDF0-2871313B098E}"/>
              </a:ext>
            </a:extLst>
          </p:cNvPr>
          <p:cNvSpPr>
            <a:spLocks noGrp="1"/>
          </p:cNvSpPr>
          <p:nvPr/>
        </p:nvSpPr>
        <p:spPr>
          <a:xfrm>
            <a:off x="4105275" y="4457700"/>
            <a:ext cx="9525" cy="14287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slide2-col-rule-2">
            <a:extLst>
              <a:ext uri="{FF2B5EF4-FFF2-40B4-BE49-F238E27FC236}">
                <a16:creationId xmlns:a16="http://schemas.microsoft.com/office/drawing/2014/main" id="{7C5B6470-C59D-4145-B361-AFA046248B72}"/>
              </a:ext>
            </a:extLst>
          </p:cNvPr>
          <p:cNvSpPr>
            <a:spLocks noGrp="1"/>
          </p:cNvSpPr>
          <p:nvPr/>
        </p:nvSpPr>
        <p:spPr>
          <a:xfrm>
            <a:off x="7867650" y="4457700"/>
            <a:ext cx="9525" cy="14287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slide2-num-01">
            <a:extLst>
              <a:ext uri="{FF2B5EF4-FFF2-40B4-BE49-F238E27FC236}">
                <a16:creationId xmlns:a16="http://schemas.microsoft.com/office/drawing/2014/main" id="{5E9D6B26-2462-453B-9628-023880AA0AAB}"/>
              </a:ext>
            </a:extLst>
          </p:cNvPr>
          <p:cNvSpPr>
            <a:spLocks noGrp="1"/>
          </p:cNvSpPr>
          <p:nvPr/>
        </p:nvSpPr>
        <p:spPr>
          <a:xfrm>
            <a:off x="514350" y="44767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slide2-title-01">
            <a:extLst>
              <a:ext uri="{FF2B5EF4-FFF2-40B4-BE49-F238E27FC236}">
                <a16:creationId xmlns:a16="http://schemas.microsoft.com/office/drawing/2014/main" id="{E07FD3E4-B3FE-489E-87C4-2DB9FCD71963}"/>
              </a:ext>
            </a:extLst>
          </p:cNvPr>
          <p:cNvSpPr>
            <a:spLocks noGrp="1"/>
          </p:cNvSpPr>
          <p:nvPr/>
        </p:nvSpPr>
        <p:spPr>
          <a:xfrm>
            <a:off x="514350" y="47625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存储分工</a:t>
            </a:r>
          </a:p>
        </p:txBody>
      </p:sp>
      <p:sp>
        <p:nvSpPr>
          <p:cNvPr id="9" name="slide2-body-01">
            <a:extLst>
              <a:ext uri="{FF2B5EF4-FFF2-40B4-BE49-F238E27FC236}">
                <a16:creationId xmlns:a16="http://schemas.microsoft.com/office/drawing/2014/main" id="{A685B7F2-0FCA-4C41-8481-6ADDEF6A751F}"/>
              </a:ext>
            </a:extLst>
          </p:cNvPr>
          <p:cNvSpPr>
            <a:spLocks noGrp="1"/>
          </p:cNvSpPr>
          <p:nvPr/>
        </p:nvSpPr>
        <p:spPr>
          <a:xfrm>
            <a:off x="514350" y="5162550"/>
            <a:ext cx="3143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HBF：权重与bulk KV</a:t>
            </a:r>
          </a:p>
          <a:p>
            <a:pPr algn="l">
              <a:lnSpc>
                <a:spcPct val="115000"/>
              </a:lnSpc>
              <a:buNone/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DDR：new/tail KV周转</a:t>
            </a:r>
          </a:p>
          <a:p>
            <a:pPr algn="l">
              <a:lnSpc>
                <a:spcPct val="115000"/>
              </a:lnSpc>
              <a:buNone/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SRAM：片上计算</a:t>
            </a:r>
          </a:p>
        </p:txBody>
      </p:sp>
      <p:sp>
        <p:nvSpPr>
          <p:cNvPr id="10" name="slide2-num-02">
            <a:extLst>
              <a:ext uri="{FF2B5EF4-FFF2-40B4-BE49-F238E27FC236}">
                <a16:creationId xmlns:a16="http://schemas.microsoft.com/office/drawing/2014/main" id="{6C33EC1B-FE0A-46BA-B178-7C22E068546E}"/>
              </a:ext>
            </a:extLst>
          </p:cNvPr>
          <p:cNvSpPr>
            <a:spLocks noGrp="1"/>
          </p:cNvSpPr>
          <p:nvPr/>
        </p:nvSpPr>
        <p:spPr>
          <a:xfrm>
            <a:off x="4362450" y="44767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slide2-title-02">
            <a:extLst>
              <a:ext uri="{FF2B5EF4-FFF2-40B4-BE49-F238E27FC236}">
                <a16:creationId xmlns:a16="http://schemas.microsoft.com/office/drawing/2014/main" id="{8EA5BC28-F947-4493-8A4B-BB388C63D2E4}"/>
              </a:ext>
            </a:extLst>
          </p:cNvPr>
          <p:cNvSpPr>
            <a:spLocks noGrp="1"/>
          </p:cNvSpPr>
          <p:nvPr/>
        </p:nvSpPr>
        <p:spPr>
          <a:xfrm>
            <a:off x="4362450" y="47625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并行方式</a:t>
            </a:r>
          </a:p>
        </p:txBody>
      </p:sp>
      <p:sp>
        <p:nvSpPr>
          <p:cNvPr id="12" name="slide2-body-02">
            <a:extLst>
              <a:ext uri="{FF2B5EF4-FFF2-40B4-BE49-F238E27FC236}">
                <a16:creationId xmlns:a16="http://schemas.microsoft.com/office/drawing/2014/main" id="{616BDA30-5081-4808-BEF0-DAEC3E3339FE}"/>
              </a:ext>
            </a:extLst>
          </p:cNvPr>
          <p:cNvSpPr>
            <a:spLocks noGrp="1"/>
          </p:cNvSpPr>
          <p:nvPr/>
        </p:nvSpPr>
        <p:spPr>
          <a:xfrm>
            <a:off x="4362450" y="5162550"/>
            <a:ext cx="3143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Attention采用TP</a:t>
            </a:r>
          </a:p>
          <a:p>
            <a:pPr algn="l">
              <a:lnSpc>
                <a:spcPct val="115000"/>
              </a:lnSpc>
              <a:buNone/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MoE采用top-k并行</a:t>
            </a:r>
          </a:p>
          <a:p>
            <a:pPr algn="l">
              <a:lnSpc>
                <a:spcPct val="115000"/>
              </a:lnSpc>
              <a:buNone/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减少all-to-all</a:t>
            </a:r>
          </a:p>
        </p:txBody>
      </p:sp>
      <p:sp>
        <p:nvSpPr>
          <p:cNvPr id="13" name="slide2-num-03">
            <a:extLst>
              <a:ext uri="{FF2B5EF4-FFF2-40B4-BE49-F238E27FC236}">
                <a16:creationId xmlns:a16="http://schemas.microsoft.com/office/drawing/2014/main" id="{978D2FD4-AE9D-4A93-A190-A718CDD3FD22}"/>
              </a:ext>
            </a:extLst>
          </p:cNvPr>
          <p:cNvSpPr>
            <a:spLocks noGrp="1"/>
          </p:cNvSpPr>
          <p:nvPr/>
        </p:nvSpPr>
        <p:spPr>
          <a:xfrm>
            <a:off x="8124825" y="44767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slide2-title-03">
            <a:extLst>
              <a:ext uri="{FF2B5EF4-FFF2-40B4-BE49-F238E27FC236}">
                <a16:creationId xmlns:a16="http://schemas.microsoft.com/office/drawing/2014/main" id="{091B5D43-E83A-4BD9-8D91-1CAD5747D657}"/>
              </a:ext>
            </a:extLst>
          </p:cNvPr>
          <p:cNvSpPr>
            <a:spLocks noGrp="1"/>
          </p:cNvSpPr>
          <p:nvPr/>
        </p:nvSpPr>
        <p:spPr>
          <a:xfrm>
            <a:off x="8124825" y="47625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指标含义</a:t>
            </a:r>
          </a:p>
        </p:txBody>
      </p:sp>
      <p:sp>
        <p:nvSpPr>
          <p:cNvPr id="15" name="slide2-body-03">
            <a:extLst>
              <a:ext uri="{FF2B5EF4-FFF2-40B4-BE49-F238E27FC236}">
                <a16:creationId xmlns:a16="http://schemas.microsoft.com/office/drawing/2014/main" id="{02564BB8-700C-485A-8656-C01C67B96697}"/>
              </a:ext>
            </a:extLst>
          </p:cNvPr>
          <p:cNvSpPr>
            <a:spLocks noGrp="1"/>
          </p:cNvSpPr>
          <p:nvPr/>
        </p:nvSpPr>
        <p:spPr>
          <a:xfrm>
            <a:off x="8124825" y="5162550"/>
            <a:ext cx="3143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P(.)：</a:t>
            </a:r>
            <a:r>
              <a:rPr sz="1350" dirty="0" err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传输字节数</a:t>
            </a:r>
            <a:endParaRPr sz="1350" dirty="0">
              <a:solidFill>
                <a:srgbClr val="6B728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buNone/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C(.)：</a:t>
            </a:r>
            <a:r>
              <a:rPr sz="1350" dirty="0" err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计算操作数</a:t>
            </a:r>
            <a:endParaRPr sz="1350" dirty="0">
              <a:solidFill>
                <a:srgbClr val="6B728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footer-rule-2">
            <a:extLst>
              <a:ext uri="{FF2B5EF4-FFF2-40B4-BE49-F238E27FC236}">
                <a16:creationId xmlns:a16="http://schemas.microsoft.com/office/drawing/2014/main" id="{77486D9B-9CB5-4EE7-BB61-979851A996F0}"/>
              </a:ext>
            </a:extLst>
          </p:cNvPr>
          <p:cNvSpPr>
            <a:spLocks noGrp="1"/>
          </p:cNvSpPr>
          <p:nvPr/>
        </p:nvSpPr>
        <p:spPr>
          <a:xfrm>
            <a:off x="495300" y="6391275"/>
            <a:ext cx="11201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7" name="source-2">
            <a:extLst>
              <a:ext uri="{FF2B5EF4-FFF2-40B4-BE49-F238E27FC236}">
                <a16:creationId xmlns:a16="http://schemas.microsoft.com/office/drawing/2014/main" id="{583FDBCD-F828-420E-BF0D-EB83EBB22FFB}"/>
              </a:ext>
            </a:extLst>
          </p:cNvPr>
          <p:cNvSpPr>
            <a:spLocks noGrp="1"/>
          </p:cNvSpPr>
          <p:nvPr/>
        </p:nvSpPr>
        <p:spPr>
          <a:xfrm>
            <a:off x="495300" y="6486525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来源：端侧HBF云端应用MFU计算任务书 · 计算流</a:t>
            </a:r>
          </a:p>
        </p:txBody>
      </p:sp>
      <p:sp>
        <p:nvSpPr>
          <p:cNvPr id="18" name="page-2">
            <a:extLst>
              <a:ext uri="{FF2B5EF4-FFF2-40B4-BE49-F238E27FC236}">
                <a16:creationId xmlns:a16="http://schemas.microsoft.com/office/drawing/2014/main" id="{B06A91A7-DFE4-46E1-8B65-C8C3837659A2}"/>
              </a:ext>
            </a:extLst>
          </p:cNvPr>
          <p:cNvSpPr>
            <a:spLocks noGrp="1"/>
          </p:cNvSpPr>
          <p:nvPr/>
        </p:nvSpPr>
        <p:spPr>
          <a:xfrm>
            <a:off x="11125200" y="6486525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113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icker-3">
            <a:extLst>
              <a:ext uri="{FF2B5EF4-FFF2-40B4-BE49-F238E27FC236}">
                <a16:creationId xmlns:a16="http://schemas.microsoft.com/office/drawing/2014/main" id="{759C5540-CDB5-4646-91AE-B028676C4379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FORMULA REVIEW · 03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137FF98B-A7CF-4948-AA43-1425342717C9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公式</a:t>
            </a:r>
            <a:endParaRPr sz="36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formula-frame">
            <a:extLst>
              <a:ext uri="{FF2B5EF4-FFF2-40B4-BE49-F238E27FC236}">
                <a16:creationId xmlns:a16="http://schemas.microsoft.com/office/drawing/2014/main" id="{E8D876D2-B7AC-41A3-8BAC-35DA12A2AA23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5953125" cy="4705350"/>
          </a:xfrm>
          <a:prstGeom prst="roundRect">
            <a:avLst>
              <a:gd name="adj" fmla="val 1215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7237" y="1485900"/>
            <a:ext cx="5327350" cy="4591050"/>
          </a:xfrm>
          <a:prstGeom prst="rect">
            <a:avLst/>
          </a:prstGeom>
        </p:spPr>
      </p:pic>
      <p:sp>
        <p:nvSpPr>
          <p:cNvPr id="6" name="confirmed-bar">
            <a:extLst>
              <a:ext uri="{FF2B5EF4-FFF2-40B4-BE49-F238E27FC236}">
                <a16:creationId xmlns:a16="http://schemas.microsoft.com/office/drawing/2014/main" id="{864255B0-95C4-4D97-A58F-D9774DD81379}"/>
              </a:ext>
            </a:extLst>
          </p:cNvPr>
          <p:cNvSpPr>
            <a:spLocks noGrp="1"/>
          </p:cNvSpPr>
          <p:nvPr/>
        </p:nvSpPr>
        <p:spPr>
          <a:xfrm>
            <a:off x="6819900" y="1438275"/>
            <a:ext cx="66675" cy="19812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7" name="confirmed-title">
            <a:extLst>
              <a:ext uri="{FF2B5EF4-FFF2-40B4-BE49-F238E27FC236}">
                <a16:creationId xmlns:a16="http://schemas.microsoft.com/office/drawing/2014/main" id="{19AD4A51-060E-4FD8-868D-16EE77A7761A}"/>
              </a:ext>
            </a:extLst>
          </p:cNvPr>
          <p:cNvSpPr>
            <a:spLocks noGrp="1"/>
          </p:cNvSpPr>
          <p:nvPr/>
        </p:nvSpPr>
        <p:spPr>
          <a:xfrm>
            <a:off x="7086600" y="14287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错误</a:t>
            </a:r>
            <a:endParaRPr sz="2100" b="1" dirty="0">
              <a:solidFill>
                <a:srgbClr val="F59E0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confirmed-list">
            <a:extLst>
              <a:ext uri="{FF2B5EF4-FFF2-40B4-BE49-F238E27FC236}">
                <a16:creationId xmlns:a16="http://schemas.microsoft.com/office/drawing/2014/main" id="{99E528A9-83EC-4F4C-B6D0-B9C1BEE50E4B}"/>
              </a:ext>
            </a:extLst>
          </p:cNvPr>
          <p:cNvSpPr>
            <a:spLocks noGrp="1"/>
          </p:cNvSpPr>
          <p:nvPr/>
        </p:nvSpPr>
        <p:spPr>
          <a:xfrm>
            <a:off x="7086600" y="1885950"/>
            <a:ext cx="452437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0" indent="-12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C(ffn_out)量纲错误，应使用P(ffn_out)</a:t>
            </a:r>
          </a:p>
          <a:p>
            <a:pPr marL="20" indent="-12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DDR路径缺少new KV写入依赖与tail数据量</a:t>
            </a:r>
          </a:p>
          <a:p>
            <a:pPr marL="20" indent="-12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KV write漏计hbf_lat</a:t>
            </a:r>
          </a:p>
          <a:p>
            <a:pPr marL="20" indent="-12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allreuce_e变量拼写不一致</a:t>
            </a:r>
          </a:p>
        </p:txBody>
      </p:sp>
      <p:sp>
        <p:nvSpPr>
          <p:cNvPr id="14" name="footer-rule-3">
            <a:extLst>
              <a:ext uri="{FF2B5EF4-FFF2-40B4-BE49-F238E27FC236}">
                <a16:creationId xmlns:a16="http://schemas.microsoft.com/office/drawing/2014/main" id="{0A1852BE-8260-40B8-B66F-40A543731FE1}"/>
              </a:ext>
            </a:extLst>
          </p:cNvPr>
          <p:cNvSpPr>
            <a:spLocks noGrp="1"/>
          </p:cNvSpPr>
          <p:nvPr/>
        </p:nvSpPr>
        <p:spPr>
          <a:xfrm>
            <a:off x="495300" y="6391275"/>
            <a:ext cx="11201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page-3">
            <a:extLst>
              <a:ext uri="{FF2B5EF4-FFF2-40B4-BE49-F238E27FC236}">
                <a16:creationId xmlns:a16="http://schemas.microsoft.com/office/drawing/2014/main" id="{4E727677-F286-4F01-9300-F817F416CF68}"/>
              </a:ext>
            </a:extLst>
          </p:cNvPr>
          <p:cNvSpPr>
            <a:spLocks noGrp="1"/>
          </p:cNvSpPr>
          <p:nvPr/>
        </p:nvSpPr>
        <p:spPr>
          <a:xfrm>
            <a:off x="11125200" y="6486525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142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kicker-4">
            <a:extLst>
              <a:ext uri="{FF2B5EF4-FFF2-40B4-BE49-F238E27FC236}">
                <a16:creationId xmlns:a16="http://schemas.microsoft.com/office/drawing/2014/main" id="{6DCD5FB7-4896-40A6-B00B-A24D56258417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IMPLEMENTATION · 04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D8A6DB4F-3865-4FDA-8343-8DBAF758AF18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基础链路</a:t>
            </a:r>
            <a:endParaRPr sz="36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lide4-subtitle">
            <a:extLst>
              <a:ext uri="{FF2B5EF4-FFF2-40B4-BE49-F238E27FC236}">
                <a16:creationId xmlns:a16="http://schemas.microsoft.com/office/drawing/2014/main" id="{AD349380-9233-4EF1-9D96-16866F72E669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硬件与场景作为输入，公式过程可逐层追踪</a:t>
            </a:r>
          </a:p>
        </p:txBody>
      </p:sp>
      <p:sp>
        <p:nvSpPr>
          <p:cNvPr id="4" name="flow-arrow-1">
            <a:extLst>
              <a:ext uri="{FF2B5EF4-FFF2-40B4-BE49-F238E27FC236}">
                <a16:creationId xmlns:a16="http://schemas.microsoft.com/office/drawing/2014/main" id="{A203700E-82F6-421A-8ED2-022DF9D6F53E}"/>
              </a:ext>
            </a:extLst>
          </p:cNvPr>
          <p:cNvSpPr>
            <a:spLocks noGrp="1"/>
          </p:cNvSpPr>
          <p:nvPr/>
        </p:nvSpPr>
        <p:spPr>
          <a:xfrm>
            <a:off x="1933575" y="2105025"/>
            <a:ext cx="361950" cy="2286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flow-arrow-2">
            <a:extLst>
              <a:ext uri="{FF2B5EF4-FFF2-40B4-BE49-F238E27FC236}">
                <a16:creationId xmlns:a16="http://schemas.microsoft.com/office/drawing/2014/main" id="{AE7C1F3C-3833-4153-8B61-6D84E729E2ED}"/>
              </a:ext>
            </a:extLst>
          </p:cNvPr>
          <p:cNvSpPr>
            <a:spLocks noGrp="1"/>
          </p:cNvSpPr>
          <p:nvPr/>
        </p:nvSpPr>
        <p:spPr>
          <a:xfrm>
            <a:off x="3810000" y="2105025"/>
            <a:ext cx="361950" cy="2286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flow-arrow-3">
            <a:extLst>
              <a:ext uri="{FF2B5EF4-FFF2-40B4-BE49-F238E27FC236}">
                <a16:creationId xmlns:a16="http://schemas.microsoft.com/office/drawing/2014/main" id="{14758567-75BE-4928-AACA-EEE3DFE7C1C9}"/>
              </a:ext>
            </a:extLst>
          </p:cNvPr>
          <p:cNvSpPr>
            <a:spLocks noGrp="1"/>
          </p:cNvSpPr>
          <p:nvPr/>
        </p:nvSpPr>
        <p:spPr>
          <a:xfrm>
            <a:off x="5686425" y="2105025"/>
            <a:ext cx="361950" cy="2286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flow-arrow-4">
            <a:extLst>
              <a:ext uri="{FF2B5EF4-FFF2-40B4-BE49-F238E27FC236}">
                <a16:creationId xmlns:a16="http://schemas.microsoft.com/office/drawing/2014/main" id="{13050C2E-6D99-470B-9A92-38CCE47F3E22}"/>
              </a:ext>
            </a:extLst>
          </p:cNvPr>
          <p:cNvSpPr>
            <a:spLocks noGrp="1"/>
          </p:cNvSpPr>
          <p:nvPr/>
        </p:nvSpPr>
        <p:spPr>
          <a:xfrm>
            <a:off x="7562850" y="2105025"/>
            <a:ext cx="361950" cy="2286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flow-arrow-5">
            <a:extLst>
              <a:ext uri="{FF2B5EF4-FFF2-40B4-BE49-F238E27FC236}">
                <a16:creationId xmlns:a16="http://schemas.microsoft.com/office/drawing/2014/main" id="{F0311E1B-05E2-4423-B653-F2E87AE7DA80}"/>
              </a:ext>
            </a:extLst>
          </p:cNvPr>
          <p:cNvSpPr>
            <a:spLocks noGrp="1"/>
          </p:cNvSpPr>
          <p:nvPr/>
        </p:nvSpPr>
        <p:spPr>
          <a:xfrm>
            <a:off x="9439275" y="2105025"/>
            <a:ext cx="361950" cy="22860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flow-label-input">
            <a:extLst>
              <a:ext uri="{FF2B5EF4-FFF2-40B4-BE49-F238E27FC236}">
                <a16:creationId xmlns:a16="http://schemas.microsoft.com/office/drawing/2014/main" id="{8852603A-28AC-42E5-B81F-6949D6493E2A}"/>
              </a:ext>
            </a:extLst>
          </p:cNvPr>
          <p:cNvSpPr>
            <a:spLocks noGrp="1"/>
          </p:cNvSpPr>
          <p:nvPr/>
        </p:nvSpPr>
        <p:spPr>
          <a:xfrm>
            <a:off x="476250" y="1504950"/>
            <a:ext cx="3257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10" name="flow-label-engine">
            <a:extLst>
              <a:ext uri="{FF2B5EF4-FFF2-40B4-BE49-F238E27FC236}">
                <a16:creationId xmlns:a16="http://schemas.microsoft.com/office/drawing/2014/main" id="{3CCD6359-4D75-4084-9B6C-E9C6CBBF73EE}"/>
              </a:ext>
            </a:extLst>
          </p:cNvPr>
          <p:cNvSpPr>
            <a:spLocks noGrp="1"/>
          </p:cNvSpPr>
          <p:nvPr/>
        </p:nvSpPr>
        <p:spPr>
          <a:xfrm>
            <a:off x="4229100" y="1504950"/>
            <a:ext cx="5133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FORMULA ENGINE</a:t>
            </a:r>
          </a:p>
        </p:txBody>
      </p:sp>
      <p:sp>
        <p:nvSpPr>
          <p:cNvPr id="11" name="flow-label-output">
            <a:extLst>
              <a:ext uri="{FF2B5EF4-FFF2-40B4-BE49-F238E27FC236}">
                <a16:creationId xmlns:a16="http://schemas.microsoft.com/office/drawing/2014/main" id="{44C4469C-E186-4A77-A8CF-9C6F90651458}"/>
              </a:ext>
            </a:extLst>
          </p:cNvPr>
          <p:cNvSpPr>
            <a:spLocks noGrp="1"/>
          </p:cNvSpPr>
          <p:nvPr/>
        </p:nvSpPr>
        <p:spPr>
          <a:xfrm>
            <a:off x="9858375" y="1504950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12" name="flow-node-1">
            <a:extLst>
              <a:ext uri="{FF2B5EF4-FFF2-40B4-BE49-F238E27FC236}">
                <a16:creationId xmlns:a16="http://schemas.microsoft.com/office/drawing/2014/main" id="{08B8DC7C-B066-41DA-9994-DB1C682D5899}"/>
              </a:ext>
            </a:extLst>
          </p:cNvPr>
          <p:cNvSpPr>
            <a:spLocks noGrp="1"/>
          </p:cNvSpPr>
          <p:nvPr/>
        </p:nvSpPr>
        <p:spPr>
          <a:xfrm>
            <a:off x="476250" y="1819275"/>
            <a:ext cx="1381125" cy="800100"/>
          </a:xfrm>
          <a:prstGeom prst="roundRect">
            <a:avLst>
              <a:gd name="adj" fmla="val 7143"/>
            </a:avLst>
          </a:prstGeom>
          <a:solidFill>
            <a:srgbClr val="EAF1FF"/>
          </a:solidFill>
          <a:ln w="19050">
            <a:solidFill>
              <a:srgbClr val="2F6BFF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硬件指标</a:t>
            </a:r>
          </a:p>
          <a:p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Excel</a:t>
            </a:r>
          </a:p>
        </p:txBody>
      </p:sp>
      <p:sp>
        <p:nvSpPr>
          <p:cNvPr id="13" name="flow-node-2">
            <a:extLst>
              <a:ext uri="{FF2B5EF4-FFF2-40B4-BE49-F238E27FC236}">
                <a16:creationId xmlns:a16="http://schemas.microsoft.com/office/drawing/2014/main" id="{71A0B061-BF15-4A4C-9D26-B95D980D00D7}"/>
              </a:ext>
            </a:extLst>
          </p:cNvPr>
          <p:cNvSpPr>
            <a:spLocks noGrp="1"/>
          </p:cNvSpPr>
          <p:nvPr/>
        </p:nvSpPr>
        <p:spPr>
          <a:xfrm>
            <a:off x="2352675" y="1819275"/>
            <a:ext cx="1381125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2F6BFF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场景参数</a:t>
            </a:r>
          </a:p>
        </p:txBody>
      </p:sp>
      <p:sp>
        <p:nvSpPr>
          <p:cNvPr id="14" name="flow-node-3">
            <a:extLst>
              <a:ext uri="{FF2B5EF4-FFF2-40B4-BE49-F238E27FC236}">
                <a16:creationId xmlns:a16="http://schemas.microsoft.com/office/drawing/2014/main" id="{4224D50A-8563-4B45-8B14-3B29C07F4FF1}"/>
              </a:ext>
            </a:extLst>
          </p:cNvPr>
          <p:cNvSpPr>
            <a:spLocks noGrp="1"/>
          </p:cNvSpPr>
          <p:nvPr/>
        </p:nvSpPr>
        <p:spPr>
          <a:xfrm>
            <a:off x="4229100" y="1819275"/>
            <a:ext cx="1381125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B8BCC4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 / C</a:t>
            </a:r>
          </a:p>
          <a:p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展开</a:t>
            </a:r>
          </a:p>
        </p:txBody>
      </p:sp>
      <p:sp>
        <p:nvSpPr>
          <p:cNvPr id="15" name="flow-node-4">
            <a:extLst>
              <a:ext uri="{FF2B5EF4-FFF2-40B4-BE49-F238E27FC236}">
                <a16:creationId xmlns:a16="http://schemas.microsoft.com/office/drawing/2014/main" id="{C0549548-9E76-42D6-B08E-B1EC71D92651}"/>
              </a:ext>
            </a:extLst>
          </p:cNvPr>
          <p:cNvSpPr>
            <a:spLocks noGrp="1"/>
          </p:cNvSpPr>
          <p:nvPr/>
        </p:nvSpPr>
        <p:spPr>
          <a:xfrm>
            <a:off x="6105525" y="1819275"/>
            <a:ext cx="1381125" cy="800100"/>
          </a:xfrm>
          <a:prstGeom prst="roundRect">
            <a:avLst>
              <a:gd name="adj" fmla="val 7143"/>
            </a:avLst>
          </a:prstGeom>
          <a:solidFill>
            <a:srgbClr val="EDEDED"/>
          </a:solidFill>
          <a:ln w="19050">
            <a:solidFill>
              <a:srgbClr val="B8BCC4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单层时序</a:t>
            </a:r>
          </a:p>
        </p:txBody>
      </p:sp>
      <p:sp>
        <p:nvSpPr>
          <p:cNvPr id="16" name="flow-node-5">
            <a:extLst>
              <a:ext uri="{FF2B5EF4-FFF2-40B4-BE49-F238E27FC236}">
                <a16:creationId xmlns:a16="http://schemas.microsoft.com/office/drawing/2014/main" id="{CEA65C2F-25FB-4117-9B0E-9FA79693B18A}"/>
              </a:ext>
            </a:extLst>
          </p:cNvPr>
          <p:cNvSpPr>
            <a:spLocks noGrp="1"/>
          </p:cNvSpPr>
          <p:nvPr/>
        </p:nvSpPr>
        <p:spPr>
          <a:xfrm>
            <a:off x="7981950" y="1819275"/>
            <a:ext cx="1381125" cy="800100"/>
          </a:xfrm>
          <a:prstGeom prst="roundRect">
            <a:avLst>
              <a:gd name="adj" fmla="val 7143"/>
            </a:avLst>
          </a:prstGeom>
          <a:solidFill>
            <a:srgbClr val="EDEDED"/>
          </a:solidFill>
          <a:ln w="19050">
            <a:solidFill>
              <a:srgbClr val="B8BCC4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48层</a:t>
            </a:r>
          </a:p>
          <a:p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串联</a:t>
            </a:r>
          </a:p>
        </p:txBody>
      </p:sp>
      <p:sp>
        <p:nvSpPr>
          <p:cNvPr id="17" name="flow-node-6">
            <a:extLst>
              <a:ext uri="{FF2B5EF4-FFF2-40B4-BE49-F238E27FC236}">
                <a16:creationId xmlns:a16="http://schemas.microsoft.com/office/drawing/2014/main" id="{8776B333-327E-4F3B-B837-213EB8501FE9}"/>
              </a:ext>
            </a:extLst>
          </p:cNvPr>
          <p:cNvSpPr>
            <a:spLocks noGrp="1"/>
          </p:cNvSpPr>
          <p:nvPr/>
        </p:nvSpPr>
        <p:spPr>
          <a:xfrm>
            <a:off x="9858375" y="1819275"/>
            <a:ext cx="1381125" cy="800100"/>
          </a:xfrm>
          <a:prstGeom prst="roundRect">
            <a:avLst>
              <a:gd name="adj" fmla="val 7143"/>
            </a:avLst>
          </a:prstGeom>
          <a:solidFill>
            <a:srgbClr val="2F6BFF"/>
          </a:solidFill>
          <a:ln w="19050">
            <a:solidFill>
              <a:srgbClr val="2F6BFF"/>
            </a:solidFill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CSV结果</a:t>
            </a:r>
          </a:p>
        </p:txBody>
      </p:sp>
      <p:sp>
        <p:nvSpPr>
          <p:cNvPr id="18" name="slide4-rule-1">
            <a:extLst>
              <a:ext uri="{FF2B5EF4-FFF2-40B4-BE49-F238E27FC236}">
                <a16:creationId xmlns:a16="http://schemas.microsoft.com/office/drawing/2014/main" id="{951ED9BE-76EF-418C-962B-30A81F8AF5B5}"/>
              </a:ext>
            </a:extLst>
          </p:cNvPr>
          <p:cNvSpPr>
            <a:spLocks noGrp="1"/>
          </p:cNvSpPr>
          <p:nvPr/>
        </p:nvSpPr>
        <p:spPr>
          <a:xfrm>
            <a:off x="4105275" y="3324225"/>
            <a:ext cx="9525" cy="20574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slide4-rule-2">
            <a:extLst>
              <a:ext uri="{FF2B5EF4-FFF2-40B4-BE49-F238E27FC236}">
                <a16:creationId xmlns:a16="http://schemas.microsoft.com/office/drawing/2014/main" id="{47C02A2A-B075-4D6B-A8C1-0AD6B44C605B}"/>
              </a:ext>
            </a:extLst>
          </p:cNvPr>
          <p:cNvSpPr>
            <a:spLocks noGrp="1"/>
          </p:cNvSpPr>
          <p:nvPr/>
        </p:nvSpPr>
        <p:spPr>
          <a:xfrm>
            <a:off x="7867650" y="3324225"/>
            <a:ext cx="9525" cy="20574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0" name="proof-tag-01">
            <a:extLst>
              <a:ext uri="{FF2B5EF4-FFF2-40B4-BE49-F238E27FC236}">
                <a16:creationId xmlns:a16="http://schemas.microsoft.com/office/drawing/2014/main" id="{0DD159F6-A51C-41F5-8D4D-1F93AD022218}"/>
              </a:ext>
            </a:extLst>
          </p:cNvPr>
          <p:cNvSpPr>
            <a:spLocks noGrp="1"/>
          </p:cNvSpPr>
          <p:nvPr/>
        </p:nvSpPr>
        <p:spPr>
          <a:xfrm>
            <a:off x="495300" y="34766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proof-title-01">
            <a:extLst>
              <a:ext uri="{FF2B5EF4-FFF2-40B4-BE49-F238E27FC236}">
                <a16:creationId xmlns:a16="http://schemas.microsoft.com/office/drawing/2014/main" id="{E1F085DE-9D20-4E3B-8AF8-0C8FA61167F4}"/>
              </a:ext>
            </a:extLst>
          </p:cNvPr>
          <p:cNvSpPr>
            <a:spLocks noGrp="1"/>
          </p:cNvSpPr>
          <p:nvPr/>
        </p:nvSpPr>
        <p:spPr>
          <a:xfrm>
            <a:off x="495300" y="38481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输入可验证</a:t>
            </a:r>
          </a:p>
        </p:txBody>
      </p:sp>
      <p:sp>
        <p:nvSpPr>
          <p:cNvPr id="22" name="proof-body-01">
            <a:extLst>
              <a:ext uri="{FF2B5EF4-FFF2-40B4-BE49-F238E27FC236}">
                <a16:creationId xmlns:a16="http://schemas.microsoft.com/office/drawing/2014/main" id="{CF0BA1F0-97DC-4ED8-B1A2-24EDB85AFBB4}"/>
              </a:ext>
            </a:extLst>
          </p:cNvPr>
          <p:cNvSpPr>
            <a:spLocks noGrp="1"/>
          </p:cNvSpPr>
          <p:nvPr/>
        </p:nvSpPr>
        <p:spPr>
          <a:xfrm>
            <a:off x="495300" y="4391025"/>
            <a:ext cx="3143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空值、单位与范围检查</a:t>
            </a:r>
          </a:p>
          <a:p>
            <a:pPr algn="l">
              <a:lnSpc>
                <a:spcPct val="118000"/>
              </a:lnSpc>
              <a:buNone/>
              <a:def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硬件指标不写死</a:t>
            </a:r>
          </a:p>
        </p:txBody>
      </p:sp>
      <p:sp>
        <p:nvSpPr>
          <p:cNvPr id="23" name="proof-tag-02">
            <a:extLst>
              <a:ext uri="{FF2B5EF4-FFF2-40B4-BE49-F238E27FC236}">
                <a16:creationId xmlns:a16="http://schemas.microsoft.com/office/drawing/2014/main" id="{99C5637D-C671-4EF1-B4D0-84CA30A63769}"/>
              </a:ext>
            </a:extLst>
          </p:cNvPr>
          <p:cNvSpPr>
            <a:spLocks noGrp="1"/>
          </p:cNvSpPr>
          <p:nvPr/>
        </p:nvSpPr>
        <p:spPr>
          <a:xfrm>
            <a:off x="4362450" y="34766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roof-title-02">
            <a:extLst>
              <a:ext uri="{FF2B5EF4-FFF2-40B4-BE49-F238E27FC236}">
                <a16:creationId xmlns:a16="http://schemas.microsoft.com/office/drawing/2014/main" id="{621AE477-D31C-46A8-BD29-9057F346A0E2}"/>
              </a:ext>
            </a:extLst>
          </p:cNvPr>
          <p:cNvSpPr>
            <a:spLocks noGrp="1"/>
          </p:cNvSpPr>
          <p:nvPr/>
        </p:nvSpPr>
        <p:spPr>
          <a:xfrm>
            <a:off x="4362450" y="38481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公式可追踪</a:t>
            </a:r>
          </a:p>
        </p:txBody>
      </p:sp>
      <p:sp>
        <p:nvSpPr>
          <p:cNvPr id="25" name="proof-body-02">
            <a:extLst>
              <a:ext uri="{FF2B5EF4-FFF2-40B4-BE49-F238E27FC236}">
                <a16:creationId xmlns:a16="http://schemas.microsoft.com/office/drawing/2014/main" id="{40D9DD87-EBCB-4F83-9644-4844EECFAB6C}"/>
              </a:ext>
            </a:extLst>
          </p:cNvPr>
          <p:cNvSpPr>
            <a:spLocks noGrp="1"/>
          </p:cNvSpPr>
          <p:nvPr/>
        </p:nvSpPr>
        <p:spPr>
          <a:xfrm>
            <a:off x="4362450" y="4391025"/>
            <a:ext cx="3143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各阶段start / end可导出</a:t>
            </a:r>
          </a:p>
          <a:p>
            <a:pPr algn="l">
              <a:lnSpc>
                <a:spcPct val="118000"/>
              </a:lnSpc>
              <a:buNone/>
              <a:def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只做已确认的最小修正</a:t>
            </a:r>
          </a:p>
        </p:txBody>
      </p:sp>
      <p:sp>
        <p:nvSpPr>
          <p:cNvPr id="26" name="proof-tag-03">
            <a:extLst>
              <a:ext uri="{FF2B5EF4-FFF2-40B4-BE49-F238E27FC236}">
                <a16:creationId xmlns:a16="http://schemas.microsoft.com/office/drawing/2014/main" id="{BA5DE82B-103F-4FA8-920D-13C3369F655B}"/>
              </a:ext>
            </a:extLst>
          </p:cNvPr>
          <p:cNvSpPr>
            <a:spLocks noGrp="1"/>
          </p:cNvSpPr>
          <p:nvPr/>
        </p:nvSpPr>
        <p:spPr>
          <a:xfrm>
            <a:off x="8124825" y="347662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proof-title-03">
            <a:extLst>
              <a:ext uri="{FF2B5EF4-FFF2-40B4-BE49-F238E27FC236}">
                <a16:creationId xmlns:a16="http://schemas.microsoft.com/office/drawing/2014/main" id="{0A69DB5E-8691-4053-BF98-B67012398F57}"/>
              </a:ext>
            </a:extLst>
          </p:cNvPr>
          <p:cNvSpPr>
            <a:spLocks noGrp="1"/>
          </p:cNvSpPr>
          <p:nvPr/>
        </p:nvSpPr>
        <p:spPr>
          <a:xfrm>
            <a:off x="8124825" y="38481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链路已跑通</a:t>
            </a:r>
          </a:p>
        </p:txBody>
      </p:sp>
      <p:sp>
        <p:nvSpPr>
          <p:cNvPr id="28" name="proof-body-03">
            <a:extLst>
              <a:ext uri="{FF2B5EF4-FFF2-40B4-BE49-F238E27FC236}">
                <a16:creationId xmlns:a16="http://schemas.microsoft.com/office/drawing/2014/main" id="{8D45A60A-0843-4955-A2CB-3E7831701966}"/>
              </a:ext>
            </a:extLst>
          </p:cNvPr>
          <p:cNvSpPr>
            <a:spLocks noGrp="1"/>
          </p:cNvSpPr>
          <p:nvPr/>
        </p:nvSpPr>
        <p:spPr>
          <a:xfrm>
            <a:off x="8124825" y="4391025"/>
            <a:ext cx="3143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prefill与decode均已验证</a:t>
            </a:r>
          </a:p>
          <a:p>
            <a:pPr algn="l">
              <a:lnSpc>
                <a:spcPct val="118000"/>
              </a:lnSpc>
              <a:buNone/>
              <a:def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输出汇总与48层明细</a:t>
            </a:r>
          </a:p>
        </p:txBody>
      </p:sp>
      <p:sp>
        <p:nvSpPr>
          <p:cNvPr id="29" name="slide4-output">
            <a:extLst>
              <a:ext uri="{FF2B5EF4-FFF2-40B4-BE49-F238E27FC236}">
                <a16:creationId xmlns:a16="http://schemas.microsoft.com/office/drawing/2014/main" id="{651DD05E-D8B0-474F-AD8E-9E876974DC69}"/>
              </a:ext>
            </a:extLst>
          </p:cNvPr>
          <p:cNvSpPr>
            <a:spLocks noGrp="1"/>
          </p:cNvSpPr>
          <p:nvPr/>
        </p:nvSpPr>
        <p:spPr>
          <a:xfrm>
            <a:off x="495300" y="571500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输出：MFU · HBF读利用率 · HBF写利用率 · E2E延迟 · 逐层时序</a:t>
            </a:r>
          </a:p>
        </p:txBody>
      </p:sp>
      <p:sp>
        <p:nvSpPr>
          <p:cNvPr id="30" name="footer-rule-4">
            <a:extLst>
              <a:ext uri="{FF2B5EF4-FFF2-40B4-BE49-F238E27FC236}">
                <a16:creationId xmlns:a16="http://schemas.microsoft.com/office/drawing/2014/main" id="{CFA46A7E-7DDD-46FE-A0DD-D7BE4945474C}"/>
              </a:ext>
            </a:extLst>
          </p:cNvPr>
          <p:cNvSpPr>
            <a:spLocks noGrp="1"/>
          </p:cNvSpPr>
          <p:nvPr/>
        </p:nvSpPr>
        <p:spPr>
          <a:xfrm>
            <a:off x="495300" y="6391275"/>
            <a:ext cx="11201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2" name="page-4">
            <a:extLst>
              <a:ext uri="{FF2B5EF4-FFF2-40B4-BE49-F238E27FC236}">
                <a16:creationId xmlns:a16="http://schemas.microsoft.com/office/drawing/2014/main" id="{9FF7DAB2-A825-485D-9152-F5E824BF72E2}"/>
              </a:ext>
            </a:extLst>
          </p:cNvPr>
          <p:cNvSpPr>
            <a:spLocks noGrp="1"/>
          </p:cNvSpPr>
          <p:nvPr/>
        </p:nvSpPr>
        <p:spPr>
          <a:xfrm>
            <a:off x="11125200" y="6486525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12605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lose-kicker">
            <a:extLst>
              <a:ext uri="{FF2B5EF4-FFF2-40B4-BE49-F238E27FC236}">
                <a16:creationId xmlns:a16="http://schemas.microsoft.com/office/drawing/2014/main" id="{0184EDCB-BB64-41EB-BFD3-63E7058CB142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CURRENT BOUNDARY · 05</a:t>
            </a:r>
          </a:p>
        </p:txBody>
      </p:sp>
      <p:sp>
        <p:nvSpPr>
          <p:cNvPr id="2" name="close-title">
            <a:extLst>
              <a:ext uri="{FF2B5EF4-FFF2-40B4-BE49-F238E27FC236}">
                <a16:creationId xmlns:a16="http://schemas.microsoft.com/office/drawing/2014/main" id="{B0A23B8D-016D-4E80-88AB-CBC7A4CE74D7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7524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4000"/>
              </a:lnSpc>
              <a:buNone/>
              <a:defRPr sz="4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基础链路已跑通，</a:t>
            </a:r>
          </a:p>
          <a:p>
            <a:pPr algn="l">
              <a:lnSpc>
                <a:spcPct val="94000"/>
              </a:lnSpc>
              <a:buNone/>
              <a:defRPr sz="4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但还不是硬件校准模型</a:t>
            </a:r>
          </a:p>
        </p:txBody>
      </p:sp>
      <p:sp>
        <p:nvSpPr>
          <p:cNvPr id="3" name="close-accent">
            <a:extLst>
              <a:ext uri="{FF2B5EF4-FFF2-40B4-BE49-F238E27FC236}">
                <a16:creationId xmlns:a16="http://schemas.microsoft.com/office/drawing/2014/main" id="{6F89ED0F-0F6B-4924-81FC-9FD993FB7C94}"/>
              </a:ext>
            </a:extLst>
          </p:cNvPr>
          <p:cNvSpPr>
            <a:spLocks noGrp="1"/>
          </p:cNvSpPr>
          <p:nvPr/>
        </p:nvSpPr>
        <p:spPr>
          <a:xfrm>
            <a:off x="552450" y="3667125"/>
            <a:ext cx="2000250" cy="66675"/>
          </a:xfrm>
          <a:prstGeom prst="rect">
            <a:avLst/>
          </a:prstGeom>
          <a:solidFill>
            <a:srgbClr val="2F6BFF"/>
          </a:solidFill>
          <a:ln w="0">
            <a:noFill/>
            <a:prstDash val="solid"/>
          </a:ln>
        </p:spPr>
      </p:sp>
      <p:sp>
        <p:nvSpPr>
          <p:cNvPr id="4" name="close-subtitle">
            <a:extLst>
              <a:ext uri="{FF2B5EF4-FFF2-40B4-BE49-F238E27FC236}">
                <a16:creationId xmlns:a16="http://schemas.microsoft.com/office/drawing/2014/main" id="{5E1E5642-FAA2-43D4-AFB3-F1C619DEA110}"/>
              </a:ext>
            </a:extLst>
          </p:cNvPr>
          <p:cNvSpPr>
            <a:spLocks noGrp="1"/>
          </p:cNvSpPr>
          <p:nvPr/>
        </p:nvSpPr>
        <p:spPr>
          <a:xfrm>
            <a:off x="552450" y="4095750"/>
            <a:ext cx="714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dirty="0" err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当前成果的价值在于：公式可追踪、输入可验证、边界明确</a:t>
            </a:r>
            <a:r>
              <a:rPr sz="195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close-divider">
            <a:extLst>
              <a:ext uri="{FF2B5EF4-FFF2-40B4-BE49-F238E27FC236}">
                <a16:creationId xmlns:a16="http://schemas.microsoft.com/office/drawing/2014/main" id="{D3E5BB96-8AC4-404C-92A0-680E915883DE}"/>
              </a:ext>
            </a:extLst>
          </p:cNvPr>
          <p:cNvSpPr>
            <a:spLocks noGrp="1"/>
          </p:cNvSpPr>
          <p:nvPr/>
        </p:nvSpPr>
        <p:spPr>
          <a:xfrm>
            <a:off x="8486775" y="1381125"/>
            <a:ext cx="9525" cy="40957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close-label-1">
            <a:extLst>
              <a:ext uri="{FF2B5EF4-FFF2-40B4-BE49-F238E27FC236}">
                <a16:creationId xmlns:a16="http://schemas.microsoft.com/office/drawing/2014/main" id="{58FECAF9-3D1A-4E76-991D-7107F2C640D0}"/>
              </a:ext>
            </a:extLst>
          </p:cNvPr>
          <p:cNvSpPr>
            <a:spLocks noGrp="1"/>
          </p:cNvSpPr>
          <p:nvPr/>
        </p:nvSpPr>
        <p:spPr>
          <a:xfrm>
            <a:off x="8858250" y="1504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close-value-1">
            <a:extLst>
              <a:ext uri="{FF2B5EF4-FFF2-40B4-BE49-F238E27FC236}">
                <a16:creationId xmlns:a16="http://schemas.microsoft.com/office/drawing/2014/main" id="{994DA558-F05B-4E7E-BC73-FFCCA5BB2520}"/>
              </a:ext>
            </a:extLst>
          </p:cNvPr>
          <p:cNvSpPr>
            <a:spLocks noGrp="1"/>
          </p:cNvSpPr>
          <p:nvPr/>
        </p:nvSpPr>
        <p:spPr>
          <a:xfrm>
            <a:off x="8858250" y="1962150"/>
            <a:ext cx="266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单场景 · 非AFD · 48层</a:t>
            </a:r>
          </a:p>
        </p:txBody>
      </p:sp>
      <p:sp>
        <p:nvSpPr>
          <p:cNvPr id="8" name="close-label-2">
            <a:extLst>
              <a:ext uri="{FF2B5EF4-FFF2-40B4-BE49-F238E27FC236}">
                <a16:creationId xmlns:a16="http://schemas.microsoft.com/office/drawing/2014/main" id="{5EEB8E3C-8E49-4218-B225-6A9FAADA2D85}"/>
              </a:ext>
            </a:extLst>
          </p:cNvPr>
          <p:cNvSpPr>
            <a:spLocks noGrp="1"/>
          </p:cNvSpPr>
          <p:nvPr/>
        </p:nvSpPr>
        <p:spPr>
          <a:xfrm>
            <a:off x="8858250" y="2905125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未宣称</a:t>
            </a:r>
          </a:p>
        </p:txBody>
      </p:sp>
      <p:sp>
        <p:nvSpPr>
          <p:cNvPr id="9" name="close-value-2">
            <a:extLst>
              <a:ext uri="{FF2B5EF4-FFF2-40B4-BE49-F238E27FC236}">
                <a16:creationId xmlns:a16="http://schemas.microsoft.com/office/drawing/2014/main" id="{8285C0C9-06B9-43B8-9801-74F93F8E36F0}"/>
              </a:ext>
            </a:extLst>
          </p:cNvPr>
          <p:cNvSpPr>
            <a:spLocks noGrp="1"/>
          </p:cNvSpPr>
          <p:nvPr/>
        </p:nvSpPr>
        <p:spPr>
          <a:xfrm>
            <a:off x="8858250" y="3362325"/>
            <a:ext cx="266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复现任务书中的具体数值</a:t>
            </a:r>
          </a:p>
        </p:txBody>
      </p:sp>
      <p:sp>
        <p:nvSpPr>
          <p:cNvPr id="10" name="close-label-3">
            <a:extLst>
              <a:ext uri="{FF2B5EF4-FFF2-40B4-BE49-F238E27FC236}">
                <a16:creationId xmlns:a16="http://schemas.microsoft.com/office/drawing/2014/main" id="{AD8F2B3A-7D70-4EC1-9E5B-A9C4FC3578A1}"/>
              </a:ext>
            </a:extLst>
          </p:cNvPr>
          <p:cNvSpPr>
            <a:spLocks noGrp="1"/>
          </p:cNvSpPr>
          <p:nvPr/>
        </p:nvSpPr>
        <p:spPr>
          <a:xfrm>
            <a:off x="8858250" y="43053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未擅自</a:t>
            </a:r>
          </a:p>
        </p:txBody>
      </p:sp>
      <p:sp>
        <p:nvSpPr>
          <p:cNvPr id="11" name="close-value-3">
            <a:extLst>
              <a:ext uri="{FF2B5EF4-FFF2-40B4-BE49-F238E27FC236}">
                <a16:creationId xmlns:a16="http://schemas.microsoft.com/office/drawing/2014/main" id="{67CFD750-D3A3-4BEF-A507-6E8DA69B315A}"/>
              </a:ext>
            </a:extLst>
          </p:cNvPr>
          <p:cNvSpPr>
            <a:spLocks noGrp="1"/>
          </p:cNvSpPr>
          <p:nvPr/>
        </p:nvSpPr>
        <p:spPr>
          <a:xfrm>
            <a:off x="8858250" y="4762500"/>
            <a:ext cx="266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补齐AFD与原文缺失公式</a:t>
            </a:r>
          </a:p>
        </p:txBody>
      </p:sp>
      <p:sp>
        <p:nvSpPr>
          <p:cNvPr id="12" name="close-bottom">
            <a:extLst>
              <a:ext uri="{FF2B5EF4-FFF2-40B4-BE49-F238E27FC236}">
                <a16:creationId xmlns:a16="http://schemas.microsoft.com/office/drawing/2014/main" id="{8B5FD0E8-F308-4C4C-B6D7-8EB2D6F3736C}"/>
              </a:ext>
            </a:extLst>
          </p:cNvPr>
          <p:cNvSpPr>
            <a:spLocks noGrp="1"/>
          </p:cNvSpPr>
          <p:nvPr/>
        </p:nvSpPr>
        <p:spPr>
          <a:xfrm>
            <a:off x="552450" y="5810250"/>
            <a:ext cx="714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可追踪  /  可验证  /  边界明确</a:t>
            </a:r>
          </a:p>
        </p:txBody>
      </p:sp>
      <p:sp>
        <p:nvSpPr>
          <p:cNvPr id="13" name="footer-rule-5">
            <a:extLst>
              <a:ext uri="{FF2B5EF4-FFF2-40B4-BE49-F238E27FC236}">
                <a16:creationId xmlns:a16="http://schemas.microsoft.com/office/drawing/2014/main" id="{873096E1-D996-4C93-B6BE-9A175C31A82E}"/>
              </a:ext>
            </a:extLst>
          </p:cNvPr>
          <p:cNvSpPr>
            <a:spLocks noGrp="1"/>
          </p:cNvSpPr>
          <p:nvPr/>
        </p:nvSpPr>
        <p:spPr>
          <a:xfrm>
            <a:off x="495300" y="6391275"/>
            <a:ext cx="11201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4" name="source-5">
            <a:extLst>
              <a:ext uri="{FF2B5EF4-FFF2-40B4-BE49-F238E27FC236}">
                <a16:creationId xmlns:a16="http://schemas.microsoft.com/office/drawing/2014/main" id="{F7DC0EB2-CA99-4CC0-BE0D-46F0007F58CD}"/>
              </a:ext>
            </a:extLst>
          </p:cNvPr>
          <p:cNvSpPr>
            <a:spLocks noGrp="1"/>
          </p:cNvSpPr>
          <p:nvPr/>
        </p:nvSpPr>
        <p:spPr>
          <a:xfrm>
            <a:off x="495300" y="6486525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结论：基础公式链路可运行；真实硬件校准与AFD建模不在当前完成范围内</a:t>
            </a:r>
          </a:p>
        </p:txBody>
      </p:sp>
      <p:sp>
        <p:nvSpPr>
          <p:cNvPr id="15" name="page-5">
            <a:extLst>
              <a:ext uri="{FF2B5EF4-FFF2-40B4-BE49-F238E27FC236}">
                <a16:creationId xmlns:a16="http://schemas.microsoft.com/office/drawing/2014/main" id="{6B47C163-341B-4E3F-9531-B79E039B4B8C}"/>
              </a:ext>
            </a:extLst>
          </p:cNvPr>
          <p:cNvSpPr>
            <a:spLocks noGrp="1"/>
          </p:cNvSpPr>
          <p:nvPr/>
        </p:nvSpPr>
        <p:spPr>
          <a:xfrm>
            <a:off x="11125200" y="6486525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2353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HBF Technical Review">
      <a:dk1>
        <a:srgbClr val="000000"/>
      </a:dk1>
      <a:lt1>
        <a:srgbClr val="FFFFFF"/>
      </a:lt1>
      <a:dk2>
        <a:srgbClr val="1F2937"/>
      </a:dk2>
      <a:lt2>
        <a:srgbClr val="EDEDED"/>
      </a:lt2>
      <a:accent1>
        <a:srgbClr val="2F6BFF"/>
      </a:accent1>
      <a:accent2>
        <a:srgbClr val="F59E0B"/>
      </a:accent2>
      <a:accent3>
        <a:srgbClr val="0F766E"/>
      </a:accent3>
      <a:accent4>
        <a:srgbClr val="DC2626"/>
      </a:accent4>
      <a:accent5>
        <a:srgbClr val="7C3AED"/>
      </a:accent5>
      <a:accent6>
        <a:srgbClr val="16A34A"/>
      </a:accent6>
      <a:hlink>
        <a:srgbClr val="2F6B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HBF Technical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HBF Technical Review">
      <a:dk1>
        <a:srgbClr val="000000"/>
      </a:dk1>
      <a:lt1>
        <a:srgbClr val="FFFFFF"/>
      </a:lt1>
      <a:dk2>
        <a:srgbClr val="1F2937"/>
      </a:dk2>
      <a:lt2>
        <a:srgbClr val="EDEDED"/>
      </a:lt2>
      <a:accent1>
        <a:srgbClr val="2F6BFF"/>
      </a:accent1>
      <a:accent2>
        <a:srgbClr val="F59E0B"/>
      </a:accent2>
      <a:accent3>
        <a:srgbClr val="0F766E"/>
      </a:accent3>
      <a:accent4>
        <a:srgbClr val="DC2626"/>
      </a:accent4>
      <a:accent5>
        <a:srgbClr val="7C3AED"/>
      </a:accent5>
      <a:accent6>
        <a:srgbClr val="16A34A"/>
      </a:accent6>
      <a:hlink>
        <a:srgbClr val="2F6B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HBF Technical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504</Words>
  <Application>Microsoft Office PowerPoint</Application>
  <DocSecurity>0</DocSecurity>
  <PresentationFormat>宽屏</PresentationFormat>
  <Paragraphs>81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 Zee</cp:lastModifiedBy>
  <cp:revision>4</cp:revision>
  <dcterms:created xsi:type="dcterms:W3CDTF">2026-07-13T19:42:54Z</dcterms:created>
  <dcterms:modified xsi:type="dcterms:W3CDTF">2026-07-14T06:25:20Z</dcterms:modified>
</cp:coreProperties>
</file>